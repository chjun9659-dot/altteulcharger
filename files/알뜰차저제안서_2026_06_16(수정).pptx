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1" r:id="rId2"/>
    <p:sldId id="294" r:id="rId3"/>
    <p:sldId id="292" r:id="rId4"/>
    <p:sldId id="264" r:id="rId5"/>
    <p:sldId id="277" r:id="rId6"/>
    <p:sldId id="278" r:id="rId7"/>
    <p:sldId id="272" r:id="rId8"/>
  </p:sldIdLst>
  <p:sldSz cx="12192000" cy="6858000"/>
  <p:notesSz cx="6858000" cy="9144000"/>
  <p:embeddedFontLst>
    <p:embeddedFont>
      <p:font typeface="나눔고딕" panose="020B0600000101010101" charset="-127"/>
      <p:regular r:id="rId11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Arial Black" panose="020B0A04020102020204" pitchFamily="34" charset="0"/>
      <p:bold r:id="rId17"/>
    </p:embeddedFont>
    <p:embeddedFont>
      <p:font typeface="맑은 고딕" panose="020B0503020000020004" pitchFamily="50" charset="-127"/>
      <p:regular r:id="rId18"/>
      <p:bold r:id="rId19"/>
    </p:embeddedFont>
    <p:embeddedFont>
      <p:font typeface="Bebas Neue" panose="020B0604020202020204" charset="0"/>
      <p:regular r:id="rId2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87E8"/>
    <a:srgbClr val="4DB857"/>
    <a:srgbClr val="242424"/>
    <a:srgbClr val="000000"/>
    <a:srgbClr val="212831"/>
    <a:srgbClr val="4AB5EC"/>
    <a:srgbClr val="786EDE"/>
    <a:srgbClr val="7A6FD4"/>
    <a:srgbClr val="FC6B80"/>
    <a:srgbClr val="F552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76" autoAdjust="0"/>
    <p:restoredTop sz="96238" autoAdjust="0"/>
  </p:normalViewPr>
  <p:slideViewPr>
    <p:cSldViewPr snapToGrid="0" snapToObjects="1">
      <p:cViewPr varScale="1">
        <p:scale>
          <a:sx n="115" d="100"/>
          <a:sy n="115" d="100"/>
        </p:scale>
        <p:origin x="-660" y="-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="" xmlns:a16="http://schemas.microsoft.com/office/drawing/2014/main" id="{DAFF8E2E-1BCA-794A-8584-A169EBC9D5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6FDFBD21-8770-3F47-899D-3F093C3195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360D9-EE13-214B-A57F-E76CAEF01036}" type="datetimeFigureOut">
              <a:rPr lang="ko-KR" altLang="en-US"/>
              <a:pPr/>
              <a:t>2026-06-16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F82E9C07-9825-4B42-B327-1A7765D92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F650D71E-FAEE-8B4D-8831-234911EA08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662E0-256B-EC47-8E47-91D2D3C899F5}" type="slidenum">
              <a:rPr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72249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2312D-A130-0042-BB4A-53F177B32192}" type="datetimeFigureOut">
              <a:rPr lang="ko-KR" altLang="en-US"/>
              <a:pPr/>
              <a:t>2026-06-16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F9390-0B77-FE41-831F-D10441DA638F}" type="slidenum">
              <a:rPr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1214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F9390-0B77-FE41-831F-D10441DA638F}" type="slidenum">
              <a:rPr lang="en-US" altLang="ko-KR" smtClean="0"/>
              <a:pPr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02642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F9390-0B77-FE41-831F-D10441DA638F}" type="slidenum">
              <a:rPr lang="en-US" altLang="x-none" smtClean="0"/>
              <a:pPr/>
              <a:t>5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325642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6">
            <a:extLst>
              <a:ext uri="{FF2B5EF4-FFF2-40B4-BE49-F238E27FC236}">
                <a16:creationId xmlns="" xmlns:a16="http://schemas.microsoft.com/office/drawing/2014/main" id="{3F05C776-29A1-40DF-9B2D-C2D1858638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ko-KR" altLang="en-US" smtClean="0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325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7">
            <a:extLst>
              <a:ext uri="{FF2B5EF4-FFF2-40B4-BE49-F238E27FC236}">
                <a16:creationId xmlns="" xmlns:a16="http://schemas.microsoft.com/office/drawing/2014/main" id="{A4B35A15-AB0A-0C49-8ED1-3EDFB33E9B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kumimoji="1" lang="ko-KR" altLang="en-US" smtClean="0"/>
              <a:t>그림을 추가하려면 아이콘을 클릭하십시오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299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그림 개체 틀 28">
            <a:extLst>
              <a:ext uri="{FF2B5EF4-FFF2-40B4-BE49-F238E27FC236}">
                <a16:creationId xmlns="" xmlns:a16="http://schemas.microsoft.com/office/drawing/2014/main" id="{E5EA9A8F-7E1D-4A4F-862B-1A67B940E3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30616" y="892794"/>
            <a:ext cx="3887977" cy="5072414"/>
          </a:xfrm>
          <a:custGeom>
            <a:avLst/>
            <a:gdLst>
              <a:gd name="connsiteX0" fmla="*/ 0 w 3887977"/>
              <a:gd name="connsiteY0" fmla="*/ 0 h 5072414"/>
              <a:gd name="connsiteX1" fmla="*/ 3887977 w 3887977"/>
              <a:gd name="connsiteY1" fmla="*/ 2536207 h 5072414"/>
              <a:gd name="connsiteX2" fmla="*/ 0 w 3887977"/>
              <a:gd name="connsiteY2" fmla="*/ 5072414 h 5072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87977" h="5072414">
                <a:moveTo>
                  <a:pt x="0" y="0"/>
                </a:moveTo>
                <a:lnTo>
                  <a:pt x="3887977" y="2536207"/>
                </a:lnTo>
                <a:lnTo>
                  <a:pt x="0" y="50724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ko-KR" altLang="en-US" smtClean="0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3329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="" xmlns:a16="http://schemas.microsoft.com/office/drawing/2014/main" id="{C3BF5F64-2579-FD4C-BC03-2E833313E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88628" y="782423"/>
            <a:ext cx="4692063" cy="5293156"/>
          </a:xfrm>
          <a:custGeom>
            <a:avLst/>
            <a:gdLst>
              <a:gd name="connsiteX0" fmla="*/ 2346031 w 4692063"/>
              <a:gd name="connsiteY0" fmla="*/ 0 h 5293156"/>
              <a:gd name="connsiteX1" fmla="*/ 4692063 w 4692063"/>
              <a:gd name="connsiteY1" fmla="*/ 1173016 h 5293156"/>
              <a:gd name="connsiteX2" fmla="*/ 4692063 w 4692063"/>
              <a:gd name="connsiteY2" fmla="*/ 4120140 h 5293156"/>
              <a:gd name="connsiteX3" fmla="*/ 2346031 w 4692063"/>
              <a:gd name="connsiteY3" fmla="*/ 5293156 h 5293156"/>
              <a:gd name="connsiteX4" fmla="*/ 0 w 4692063"/>
              <a:gd name="connsiteY4" fmla="*/ 4120140 h 5293156"/>
              <a:gd name="connsiteX5" fmla="*/ 0 w 4692063"/>
              <a:gd name="connsiteY5" fmla="*/ 1173016 h 5293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92063" h="5293156">
                <a:moveTo>
                  <a:pt x="2346031" y="0"/>
                </a:moveTo>
                <a:lnTo>
                  <a:pt x="4692063" y="1173016"/>
                </a:lnTo>
                <a:lnTo>
                  <a:pt x="4692063" y="4120140"/>
                </a:lnTo>
                <a:lnTo>
                  <a:pt x="2346031" y="5293156"/>
                </a:lnTo>
                <a:lnTo>
                  <a:pt x="0" y="4120140"/>
                </a:lnTo>
                <a:lnTo>
                  <a:pt x="0" y="11730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ko-KR" altLang="en-US" smtClean="0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2343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그림 개체 틀 16">
            <a:extLst>
              <a:ext uri="{FF2B5EF4-FFF2-40B4-BE49-F238E27FC236}">
                <a16:creationId xmlns="" xmlns:a16="http://schemas.microsoft.com/office/drawing/2014/main" id="{9E423C1E-BE1E-134D-B4C2-000DA6EE69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9100" y="1283867"/>
            <a:ext cx="3803064" cy="4290269"/>
          </a:xfrm>
          <a:custGeom>
            <a:avLst/>
            <a:gdLst>
              <a:gd name="connsiteX0" fmla="*/ 1901532 w 3803064"/>
              <a:gd name="connsiteY0" fmla="*/ 0 h 4290269"/>
              <a:gd name="connsiteX1" fmla="*/ 3803064 w 3803064"/>
              <a:gd name="connsiteY1" fmla="*/ 950767 h 4290269"/>
              <a:gd name="connsiteX2" fmla="*/ 3803064 w 3803064"/>
              <a:gd name="connsiteY2" fmla="*/ 3339503 h 4290269"/>
              <a:gd name="connsiteX3" fmla="*/ 1901532 w 3803064"/>
              <a:gd name="connsiteY3" fmla="*/ 4290269 h 4290269"/>
              <a:gd name="connsiteX4" fmla="*/ 0 w 3803064"/>
              <a:gd name="connsiteY4" fmla="*/ 3339503 h 4290269"/>
              <a:gd name="connsiteX5" fmla="*/ 0 w 3803064"/>
              <a:gd name="connsiteY5" fmla="*/ 950767 h 4290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03064" h="4290269">
                <a:moveTo>
                  <a:pt x="1901532" y="0"/>
                </a:moveTo>
                <a:lnTo>
                  <a:pt x="3803064" y="950767"/>
                </a:lnTo>
                <a:lnTo>
                  <a:pt x="3803064" y="3339503"/>
                </a:lnTo>
                <a:lnTo>
                  <a:pt x="1901532" y="4290269"/>
                </a:lnTo>
                <a:lnTo>
                  <a:pt x="0" y="3339503"/>
                </a:lnTo>
                <a:lnTo>
                  <a:pt x="0" y="9507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ko-KR" altLang="en-US" smtClean="0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0781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그림 개체 틀 14">
            <a:extLst>
              <a:ext uri="{FF2B5EF4-FFF2-40B4-BE49-F238E27FC236}">
                <a16:creationId xmlns="" xmlns:a16="http://schemas.microsoft.com/office/drawing/2014/main" id="{95680A01-8DEA-294B-AF94-8AC26AB99B5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89500" y="1638300"/>
            <a:ext cx="2413000" cy="2413000"/>
          </a:xfrm>
          <a:prstGeom prst="ellipse">
            <a:avLst/>
          </a:prstGeom>
        </p:spPr>
        <p:txBody>
          <a:bodyPr wrap="square">
            <a:noAutofit/>
          </a:bodyPr>
          <a:lstStyle/>
          <a:p>
            <a:r>
              <a:rPr kumimoji="1" lang="ko-KR" altLang="en-US" smtClean="0"/>
              <a:t>그림을 추가하려면 아이콘을 클릭하십시오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2623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="" xmlns:a16="http://schemas.microsoft.com/office/drawing/2014/main" id="{EAFB48DB-015E-5E49-BCDB-F85A042AE8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0 w 12192000"/>
              <a:gd name="connsiteY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kumimoji="1" lang="ko-KR" altLang="en-US" smtClean="0"/>
              <a:t>그림을 추가하려면 아이콘을 클릭하십시오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128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2">
            <a:extLst>
              <a:ext uri="{FF2B5EF4-FFF2-40B4-BE49-F238E27FC236}">
                <a16:creationId xmlns="" xmlns:a16="http://schemas.microsoft.com/office/drawing/2014/main" id="{96A2AC51-5B09-4A09-AD7A-F6161875275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2"/>
            <a:ext cx="12192001" cy="6858001"/>
          </a:xfrm>
        </p:spPr>
        <p:txBody>
          <a:bodyPr/>
          <a:lstStyle/>
          <a:p>
            <a:r>
              <a:rPr kumimoji="1" lang="ko-KR" altLang="en-US" smtClean="0"/>
              <a:t>그림을 추가하려면 아이콘을 클릭하십시오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7447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="" xmlns:a16="http://schemas.microsoft.com/office/drawing/2014/main" id="{B23C1261-AD43-8A49-A955-7679732F19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2192000 w 12192000"/>
              <a:gd name="connsiteY0" fmla="*/ 0 h 6858000"/>
              <a:gd name="connsiteX1" fmla="*/ 12192000 w 12192000"/>
              <a:gd name="connsiteY1" fmla="*/ 6858000 h 6858000"/>
              <a:gd name="connsiteX2" fmla="*/ 0 w 12192000"/>
              <a:gd name="connsiteY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2000" h="6858000">
                <a:moveTo>
                  <a:pt x="12192000" y="0"/>
                </a:move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kumimoji="1" lang="ko-KR" altLang="en-US" smtClean="0"/>
              <a:t>그림을 추가하려면 아이콘을 클릭하십시오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815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그림 개체 틀 7">
            <a:extLst>
              <a:ext uri="{FF2B5EF4-FFF2-40B4-BE49-F238E27FC236}">
                <a16:creationId xmlns="" xmlns:a16="http://schemas.microsoft.com/office/drawing/2014/main" id="{F794BB81-CDF9-E84E-B2E6-CF089611E8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55750"/>
            <a:ext cx="10883900" cy="3746500"/>
          </a:xfrm>
        </p:spPr>
        <p:txBody>
          <a:bodyPr/>
          <a:lstStyle/>
          <a:p>
            <a:r>
              <a:rPr kumimoji="1" lang="ko-KR" altLang="en-US" smtClean="0"/>
              <a:t>그림을 추가하려면 아이콘을 클릭하십시오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2779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그림 개체 틀 8">
            <a:extLst>
              <a:ext uri="{FF2B5EF4-FFF2-40B4-BE49-F238E27FC236}">
                <a16:creationId xmlns="" xmlns:a16="http://schemas.microsoft.com/office/drawing/2014/main" id="{3164E267-4854-A149-A931-B2838DACDFB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5057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0 w 12192000"/>
              <a:gd name="connsiteY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kumimoji="1" lang="ko-KR" altLang="en-US" smtClean="0"/>
              <a:t>그림을 추가하려면 아이콘을 클릭하십시오</a:t>
            </a:r>
            <a:endParaRPr kumimoji="1" lang="ko-KR" altLang="en-US" dirty="0"/>
          </a:p>
        </p:txBody>
      </p:sp>
      <p:sp>
        <p:nvSpPr>
          <p:cNvPr id="11" name="그림 개체 틀 10">
            <a:extLst>
              <a:ext uri="{FF2B5EF4-FFF2-40B4-BE49-F238E27FC236}">
                <a16:creationId xmlns="" xmlns:a16="http://schemas.microsoft.com/office/drawing/2014/main" id="{296408D4-16D8-C94B-858F-C140B04099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819400" y="2044700"/>
            <a:ext cx="2768600" cy="2768600"/>
          </a:xfrm>
          <a:prstGeom prst="ellipse">
            <a:avLst/>
          </a:prstGeom>
        </p:spPr>
        <p:txBody>
          <a:bodyPr wrap="square">
            <a:noAutofit/>
          </a:bodyPr>
          <a:lstStyle/>
          <a:p>
            <a:r>
              <a:rPr kumimoji="1" lang="ko-KR" altLang="en-US" smtClean="0"/>
              <a:t>그림을 추가하려면 아이콘을 클릭하십시오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4519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그림 개체 틀 15">
            <a:extLst>
              <a:ext uri="{FF2B5EF4-FFF2-40B4-BE49-F238E27FC236}">
                <a16:creationId xmlns="" xmlns:a16="http://schemas.microsoft.com/office/drawing/2014/main" id="{00A53407-7066-9840-ACF1-72883D9745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705600" cy="6858000"/>
          </a:xfrm>
          <a:custGeom>
            <a:avLst/>
            <a:gdLst>
              <a:gd name="connsiteX0" fmla="*/ 0 w 6705600"/>
              <a:gd name="connsiteY0" fmla="*/ 0 h 6858000"/>
              <a:gd name="connsiteX1" fmla="*/ 4648200 w 6705600"/>
              <a:gd name="connsiteY1" fmla="*/ 0 h 6858000"/>
              <a:gd name="connsiteX2" fmla="*/ 6705600 w 6705600"/>
              <a:gd name="connsiteY2" fmla="*/ 0 h 6858000"/>
              <a:gd name="connsiteX3" fmla="*/ 4648200 w 6705600"/>
              <a:gd name="connsiteY3" fmla="*/ 6858000 h 6858000"/>
              <a:gd name="connsiteX4" fmla="*/ 0 w 67056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5600" h="6858000">
                <a:moveTo>
                  <a:pt x="0" y="0"/>
                </a:moveTo>
                <a:lnTo>
                  <a:pt x="4648200" y="0"/>
                </a:lnTo>
                <a:lnTo>
                  <a:pt x="6705600" y="0"/>
                </a:lnTo>
                <a:lnTo>
                  <a:pt x="46482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kumimoji="1" lang="ko-KR" altLang="en-US" smtClean="0"/>
              <a:t>그림을 추가하려면 아이콘을 클릭하십시오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3284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2">
            <a:extLst>
              <a:ext uri="{FF2B5EF4-FFF2-40B4-BE49-F238E27FC236}">
                <a16:creationId xmlns="" xmlns:a16="http://schemas.microsoft.com/office/drawing/2014/main" id="{0A9DF599-AAB5-5C4D-BC5C-510F20C90D4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30698" y="1371600"/>
            <a:ext cx="2724068" cy="4584700"/>
          </a:xfrm>
        </p:spPr>
        <p:txBody>
          <a:bodyPr/>
          <a:lstStyle/>
          <a:p>
            <a:r>
              <a:rPr kumimoji="1" lang="ko-KR" altLang="en-US" smtClean="0"/>
              <a:t>그림을 추가하려면 아이콘을 클릭하십시오</a:t>
            </a:r>
            <a:endParaRPr kumimoji="1" lang="ko-KR" altLang="en-US"/>
          </a:p>
        </p:txBody>
      </p:sp>
      <p:sp>
        <p:nvSpPr>
          <p:cNvPr id="14" name="그림 개체 틀 2">
            <a:extLst>
              <a:ext uri="{FF2B5EF4-FFF2-40B4-BE49-F238E27FC236}">
                <a16:creationId xmlns="" xmlns:a16="http://schemas.microsoft.com/office/drawing/2014/main" id="{F50E7F25-F353-CA4A-8ABB-72BD3115168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943774" y="1371600"/>
            <a:ext cx="2724068" cy="4584700"/>
          </a:xfrm>
        </p:spPr>
        <p:txBody>
          <a:bodyPr/>
          <a:lstStyle/>
          <a:p>
            <a:r>
              <a:rPr kumimoji="1" lang="ko-KR" altLang="en-US" smtClean="0"/>
              <a:t>그림을 추가하려면 아이콘을 클릭하십시오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27792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7">
            <a:extLst>
              <a:ext uri="{FF2B5EF4-FFF2-40B4-BE49-F238E27FC236}">
                <a16:creationId xmlns="" xmlns:a16="http://schemas.microsoft.com/office/drawing/2014/main" id="{DEF2FD29-0F12-D144-B982-AB201AB143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68800" y="0"/>
            <a:ext cx="7823200" cy="6858000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 smtClean="0"/>
              <a:t>그림을 추가하려면 아이콘을 클릭하십시오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9013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="" xmlns:a16="http://schemas.microsoft.com/office/drawing/2014/main" id="{E06FB9A7-6775-204A-8508-E304F3BA7F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55000" y="0"/>
            <a:ext cx="3937000" cy="6858000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 smtClean="0"/>
              <a:t>그림을 추가하려면 아이콘을 클릭하십시오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5659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그림 개체 틀 13">
            <a:extLst>
              <a:ext uri="{FF2B5EF4-FFF2-40B4-BE49-F238E27FC236}">
                <a16:creationId xmlns="" xmlns:a16="http://schemas.microsoft.com/office/drawing/2014/main" id="{3A05CD14-ED89-174A-B651-419E32E32C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2"/>
            <a:ext cx="8940799" cy="6857998"/>
          </a:xfrm>
          <a:custGeom>
            <a:avLst/>
            <a:gdLst>
              <a:gd name="connsiteX0" fmla="*/ 0 w 8940799"/>
              <a:gd name="connsiteY0" fmla="*/ 0 h 6857998"/>
              <a:gd name="connsiteX1" fmla="*/ 5511800 w 8940799"/>
              <a:gd name="connsiteY1" fmla="*/ 0 h 6857998"/>
              <a:gd name="connsiteX2" fmla="*/ 8940799 w 8940799"/>
              <a:gd name="connsiteY2" fmla="*/ 3429000 h 6857998"/>
              <a:gd name="connsiteX3" fmla="*/ 5511802 w 8940799"/>
              <a:gd name="connsiteY3" fmla="*/ 6857998 h 6857998"/>
              <a:gd name="connsiteX4" fmla="*/ 0 w 8940799"/>
              <a:gd name="connsiteY4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40799" h="6857998">
                <a:moveTo>
                  <a:pt x="0" y="0"/>
                </a:moveTo>
                <a:lnTo>
                  <a:pt x="5511800" y="0"/>
                </a:lnTo>
                <a:lnTo>
                  <a:pt x="8940799" y="3429000"/>
                </a:lnTo>
                <a:lnTo>
                  <a:pt x="5511802" y="6857998"/>
                </a:lnTo>
                <a:lnTo>
                  <a:pt x="0" y="6857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kumimoji="1" lang="ko-KR" altLang="en-US" smtClean="0"/>
              <a:t>그림을 추가하려면 아이콘을 클릭하십시오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1457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6">
            <a:extLst>
              <a:ext uri="{FF2B5EF4-FFF2-40B4-BE49-F238E27FC236}">
                <a16:creationId xmlns="" xmlns:a16="http://schemas.microsoft.com/office/drawing/2014/main" id="{48AA663F-29C0-2D49-B8DC-F30DF05214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651076"/>
            <a:ext cx="12192000" cy="5555848"/>
          </a:xfrm>
        </p:spPr>
        <p:txBody>
          <a:bodyPr/>
          <a:lstStyle/>
          <a:p>
            <a:r>
              <a:rPr lang="ko-KR" altLang="en-US" smtClean="0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45895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그림 개체 틀 7">
            <a:extLst>
              <a:ext uri="{FF2B5EF4-FFF2-40B4-BE49-F238E27FC236}">
                <a16:creationId xmlns="" xmlns:a16="http://schemas.microsoft.com/office/drawing/2014/main" id="{0060214D-012A-3744-A46B-934548B72C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76446" y="1675435"/>
            <a:ext cx="5382227" cy="4100332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 smtClean="0"/>
              <a:t>그림을 추가하려면 아이콘을 클릭하십시오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91597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6">
            <a:extLst>
              <a:ext uri="{FF2B5EF4-FFF2-40B4-BE49-F238E27FC236}">
                <a16:creationId xmlns="" xmlns:a16="http://schemas.microsoft.com/office/drawing/2014/main" id="{0A81AE40-9C84-B048-8591-9835DCEFAD7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7315200" cy="6858000"/>
          </a:xfrm>
        </p:spPr>
        <p:txBody>
          <a:bodyPr/>
          <a:lstStyle/>
          <a:p>
            <a:r>
              <a:rPr lang="ko-KR" altLang="en-US" smtClean="0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85300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그림 개체 틀 6">
            <a:extLst>
              <a:ext uri="{FF2B5EF4-FFF2-40B4-BE49-F238E27FC236}">
                <a16:creationId xmlns="" xmlns:a16="http://schemas.microsoft.com/office/drawing/2014/main" id="{8CBB99DF-C4C6-5D4A-8D8C-FE554F7B1E7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04841" cy="6858000"/>
          </a:xfrm>
        </p:spPr>
        <p:txBody>
          <a:bodyPr/>
          <a:lstStyle/>
          <a:p>
            <a:r>
              <a:rPr lang="ko-KR" altLang="en-US" smtClean="0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7439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4">
            <a:extLst>
              <a:ext uri="{FF2B5EF4-FFF2-40B4-BE49-F238E27FC236}">
                <a16:creationId xmlns="" xmlns:a16="http://schemas.microsoft.com/office/drawing/2014/main" id="{4521014F-9493-0849-8504-E4BE78B3C4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0343635" cy="5535400"/>
          </a:xfrm>
          <a:custGeom>
            <a:avLst/>
            <a:gdLst>
              <a:gd name="connsiteX0" fmla="*/ 0 w 10343635"/>
              <a:gd name="connsiteY0" fmla="*/ 0 h 5535400"/>
              <a:gd name="connsiteX1" fmla="*/ 10343635 w 10343635"/>
              <a:gd name="connsiteY1" fmla="*/ 0 h 5535400"/>
              <a:gd name="connsiteX2" fmla="*/ 10312525 w 10343635"/>
              <a:gd name="connsiteY2" fmla="*/ 134792 h 5535400"/>
              <a:gd name="connsiteX3" fmla="*/ 3339200 w 10343635"/>
              <a:gd name="connsiteY3" fmla="*/ 5535400 h 5535400"/>
              <a:gd name="connsiteX4" fmla="*/ 217702 w 10343635"/>
              <a:gd name="connsiteY4" fmla="*/ 4825402 h 5535400"/>
              <a:gd name="connsiteX5" fmla="*/ 0 w 10343635"/>
              <a:gd name="connsiteY5" fmla="*/ 4713902 h 553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635" h="5535400">
                <a:moveTo>
                  <a:pt x="0" y="0"/>
                </a:moveTo>
                <a:lnTo>
                  <a:pt x="10343635" y="0"/>
                </a:lnTo>
                <a:lnTo>
                  <a:pt x="10312525" y="134792"/>
                </a:lnTo>
                <a:cubicBezTo>
                  <a:pt x="9513459" y="3240510"/>
                  <a:pt x="6694330" y="5535400"/>
                  <a:pt x="3339200" y="5535400"/>
                </a:cubicBezTo>
                <a:cubicBezTo>
                  <a:pt x="2220824" y="5535400"/>
                  <a:pt x="1162003" y="5280412"/>
                  <a:pt x="217702" y="4825402"/>
                </a:cubicBezTo>
                <a:lnTo>
                  <a:pt x="0" y="47139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ko-KR" altLang="en-US" smtClean="0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44634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6">
            <a:extLst>
              <a:ext uri="{FF2B5EF4-FFF2-40B4-BE49-F238E27FC236}">
                <a16:creationId xmlns="" xmlns:a16="http://schemas.microsoft.com/office/drawing/2014/main" id="{F99A3D19-EDC1-0C47-BD91-E5EA9545A6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187615"/>
            <a:ext cx="12192000" cy="4670385"/>
          </a:xfrm>
        </p:spPr>
        <p:txBody>
          <a:bodyPr/>
          <a:lstStyle/>
          <a:p>
            <a:r>
              <a:rPr lang="ko-KR" altLang="en-US" smtClean="0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33373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6">
            <a:extLst>
              <a:ext uri="{FF2B5EF4-FFF2-40B4-BE49-F238E27FC236}">
                <a16:creationId xmlns="" xmlns:a16="http://schemas.microsoft.com/office/drawing/2014/main" id="{162C7A45-3CAD-8146-A0E5-E8442CAE0E9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13977" y="1200680"/>
            <a:ext cx="5456533" cy="2815735"/>
          </a:xfrm>
        </p:spPr>
        <p:txBody>
          <a:bodyPr/>
          <a:lstStyle/>
          <a:p>
            <a:r>
              <a:rPr lang="ko-KR" altLang="en-US" smtClean="0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78836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그림 개체 틀 10">
            <a:extLst>
              <a:ext uri="{FF2B5EF4-FFF2-40B4-BE49-F238E27FC236}">
                <a16:creationId xmlns="" xmlns:a16="http://schemas.microsoft.com/office/drawing/2014/main" id="{E2BC1386-12E8-0343-B0D1-B30A18D6FC8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38978" y="1109330"/>
            <a:ext cx="9041049" cy="5748670"/>
          </a:xfrm>
          <a:custGeom>
            <a:avLst/>
            <a:gdLst>
              <a:gd name="connsiteX0" fmla="*/ 7053657 w 9041049"/>
              <a:gd name="connsiteY0" fmla="*/ 0 h 5748670"/>
              <a:gd name="connsiteX1" fmla="*/ 8853049 w 9041049"/>
              <a:gd name="connsiteY1" fmla="*/ 226675 h 5748670"/>
              <a:gd name="connsiteX2" fmla="*/ 9041049 w 9041049"/>
              <a:gd name="connsiteY2" fmla="*/ 280061 h 5748670"/>
              <a:gd name="connsiteX3" fmla="*/ 9041049 w 9041049"/>
              <a:gd name="connsiteY3" fmla="*/ 5748670 h 5748670"/>
              <a:gd name="connsiteX4" fmla="*/ 0 w 9041049"/>
              <a:gd name="connsiteY4" fmla="*/ 5748670 h 5748670"/>
              <a:gd name="connsiteX5" fmla="*/ 80332 w 9041049"/>
              <a:gd name="connsiteY5" fmla="*/ 5400608 h 5748670"/>
              <a:gd name="connsiteX6" fmla="*/ 7053657 w 9041049"/>
              <a:gd name="connsiteY6" fmla="*/ 0 h 574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041049" h="5748670">
                <a:moveTo>
                  <a:pt x="7053657" y="0"/>
                </a:moveTo>
                <a:cubicBezTo>
                  <a:pt x="7674977" y="0"/>
                  <a:pt x="8277916" y="78700"/>
                  <a:pt x="8853049" y="226675"/>
                </a:cubicBezTo>
                <a:lnTo>
                  <a:pt x="9041049" y="280061"/>
                </a:lnTo>
                <a:lnTo>
                  <a:pt x="9041049" y="5748670"/>
                </a:lnTo>
                <a:lnTo>
                  <a:pt x="0" y="5748670"/>
                </a:lnTo>
                <a:lnTo>
                  <a:pt x="80332" y="5400608"/>
                </a:lnTo>
                <a:cubicBezTo>
                  <a:pt x="879398" y="2294891"/>
                  <a:pt x="3698528" y="0"/>
                  <a:pt x="70536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ko-KR" altLang="en-US" smtClean="0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53640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6">
            <a:extLst>
              <a:ext uri="{FF2B5EF4-FFF2-40B4-BE49-F238E27FC236}">
                <a16:creationId xmlns="" xmlns:a16="http://schemas.microsoft.com/office/drawing/2014/main" id="{3F05C776-29A1-40DF-9B2D-C2D1858638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ko-KR" altLang="en-US" smtClean="0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79950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539297"/>
            <a:ext cx="10515600" cy="1325563"/>
          </a:xfrm>
        </p:spPr>
        <p:txBody>
          <a:bodyPr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altLang="ko-KR" dirty="0" smtClean="0"/>
              <a:t>INSERT YOUR TITLE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CEA5-0EA0-4748-B918-96FF4594033F}" type="datetimeFigureOut">
              <a:rPr lang="ko-KR" altLang="en-US" smtClean="0"/>
              <a:pPr/>
              <a:t>2026-06-16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1B65A-3EA8-B143-8EF8-039F2099A48A}" type="slidenum">
              <a:rPr lang="en-US" altLang="ko-KR" smtClean="0"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915516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65200" y="1"/>
            <a:ext cx="6451600" cy="2404156"/>
          </a:xfrm>
        </p:spPr>
        <p:txBody>
          <a:bodyPr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altLang="ko-KR" dirty="0" smtClean="0"/>
              <a:t>INSERT YOUR TITLE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CEA5-0EA0-4748-B918-96FF4594033F}" type="datetimeFigureOut">
              <a:rPr lang="ko-KR" altLang="en-US" smtClean="0"/>
              <a:pPr/>
              <a:t>2026-06-16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1B65A-3EA8-B143-8EF8-039F2099A48A}" type="slidenum">
              <a:rPr lang="en-US" altLang="ko-KR" smtClean="0"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14771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7620000" y="1352098"/>
            <a:ext cx="4542971" cy="2116817"/>
          </a:xfrm>
        </p:spPr>
        <p:txBody>
          <a:bodyPr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altLang="ko-KR" dirty="0" smtClean="0"/>
              <a:t>INSERT YOUR TITLE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CEA5-0EA0-4748-B918-96FF4594033F}" type="datetimeFigureOut">
              <a:rPr lang="ko-KR" altLang="en-US" smtClean="0"/>
              <a:pPr/>
              <a:t>2026-06-16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1B65A-3EA8-B143-8EF8-039F2099A48A}" type="slidenum">
              <a:rPr lang="en-US" altLang="ko-KR" smtClean="0"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121430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1352098"/>
            <a:ext cx="4542971" cy="2116817"/>
          </a:xfrm>
        </p:spPr>
        <p:txBody>
          <a:bodyPr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altLang="ko-KR" dirty="0" smtClean="0"/>
              <a:t>INSERT YOUR TITLE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CEA5-0EA0-4748-B918-96FF4594033F}" type="datetimeFigureOut">
              <a:rPr lang="ko-KR" altLang="en-US" smtClean="0"/>
              <a:pPr/>
              <a:t>2026-06-16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1B65A-3EA8-B143-8EF8-039F2099A48A}" type="slidenum">
              <a:rPr lang="en-US" altLang="ko-KR" smtClean="0"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13441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D36EC25-A09C-3A40-B8D0-697F31FD6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61A27AC4-FC8A-204F-A5D7-9FCA5FABB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00969E98-71D0-554C-9333-B80E01795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ACEA5-0EA0-4748-B918-96FF4594033F}" type="datetimeFigureOut">
              <a:rPr lang="ko-KR" altLang="en-US"/>
              <a:pPr/>
              <a:t>2026-06-16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3476313A-C4B1-B74C-8FF7-6542344063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9ABE2B7C-81F0-A943-A190-99C2B12DD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1B65A-3EA8-B143-8EF8-039F2099A48A}" type="slidenum">
              <a:rPr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329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7" r:id="rId3"/>
    <p:sldLayoutId id="2147483654" r:id="rId4"/>
    <p:sldLayoutId id="2147483660" r:id="rId5"/>
    <p:sldLayoutId id="2147483661" r:id="rId6"/>
    <p:sldLayoutId id="2147483667" r:id="rId7"/>
    <p:sldLayoutId id="2147483653" r:id="rId8"/>
    <p:sldLayoutId id="2147483685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84" r:id="rId18"/>
    <p:sldLayoutId id="2147483683" r:id="rId19"/>
    <p:sldLayoutId id="2147483679" r:id="rId20"/>
    <p:sldLayoutId id="2147483682" r:id="rId21"/>
    <p:sldLayoutId id="2147483681" r:id="rId22"/>
    <p:sldLayoutId id="2147483680" r:id="rId23"/>
    <p:sldLayoutId id="2147483678" r:id="rId24"/>
    <p:sldLayoutId id="2147483686" r:id="rId25"/>
    <p:sldLayoutId id="2147483687" r:id="rId26"/>
    <p:sldLayoutId id="2147483691" r:id="rId27"/>
    <p:sldLayoutId id="2147483689" r:id="rId28"/>
    <p:sldLayoutId id="2147483690" r:id="rId2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226550" cy="6857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3325258-39C8-9440-80AB-013DBD8A3F9B}"/>
              </a:ext>
            </a:extLst>
          </p:cNvPr>
          <p:cNvSpPr txBox="1"/>
          <p:nvPr/>
        </p:nvSpPr>
        <p:spPr>
          <a:xfrm>
            <a:off x="455291" y="789791"/>
            <a:ext cx="4352307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 Black" pitchFamily="34" charset="-120"/>
              </a:rPr>
              <a:t>알뜰차저</a:t>
            </a:r>
            <a:endParaRPr lang="en-US" altLang="ko-KR" sz="6000" b="1" dirty="0">
              <a:solidFill>
                <a:schemeClr val="tx1">
                  <a:lumMod val="85000"/>
                  <a:lumOff val="1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30352" y="1871958"/>
            <a:ext cx="35381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1" lang="ko-KR" altLang="en-US" sz="2800" b="1" dirty="0" smtClean="0">
                <a:solidFill>
                  <a:srgbClr val="21283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1" lang="en-US" altLang="ko-KR" sz="2800" b="1" dirty="0" smtClean="0">
                <a:solidFill>
                  <a:srgbClr val="21283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EV</a:t>
            </a:r>
            <a:r>
              <a:rPr kumimoji="1" lang="ko-KR" altLang="en-US" sz="2800" b="1" dirty="0" smtClean="0">
                <a:solidFill>
                  <a:srgbClr val="21283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충전기 </a:t>
            </a:r>
            <a:r>
              <a:rPr kumimoji="1" lang="ko-KR" altLang="en-US" sz="2800" b="1" dirty="0" err="1" smtClean="0">
                <a:solidFill>
                  <a:srgbClr val="21283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설치제안서</a:t>
            </a:r>
            <a:endParaRPr kumimoji="1" lang="ko-KR" altLang="en-US" sz="2800" b="1" dirty="0">
              <a:solidFill>
                <a:srgbClr val="21283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6543675" y="5448300"/>
            <a:ext cx="5648322" cy="1409700"/>
            <a:chOff x="7229474" y="5448300"/>
            <a:chExt cx="4962525" cy="1409700"/>
          </a:xfrm>
        </p:grpSpPr>
        <p:sp>
          <p:nvSpPr>
            <p:cNvPr id="4" name="직각 삼각형 3"/>
            <p:cNvSpPr/>
            <p:nvPr/>
          </p:nvSpPr>
          <p:spPr>
            <a:xfrm flipH="1">
              <a:off x="7229474" y="5448300"/>
              <a:ext cx="4962525" cy="14097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각 삼각형 42"/>
            <p:cNvSpPr/>
            <p:nvPr/>
          </p:nvSpPr>
          <p:spPr>
            <a:xfrm flipH="1">
              <a:off x="7229474" y="5734049"/>
              <a:ext cx="4962525" cy="1123411"/>
            </a:xfrm>
            <a:prstGeom prst="rt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직사각형 8"/>
          <p:cNvSpPr/>
          <p:nvPr/>
        </p:nvSpPr>
        <p:spPr>
          <a:xfrm>
            <a:off x="8528144" y="6510848"/>
            <a:ext cx="356860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100" b="1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알뜰에너지솔루션</a:t>
            </a:r>
            <a:r>
              <a:rPr lang="en-US" altLang="ko-KR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(주)  |  ALTTEUL ENERGY SOLUTION</a:t>
            </a:r>
          </a:p>
        </p:txBody>
      </p:sp>
      <p:sp>
        <p:nvSpPr>
          <p:cNvPr id="27" name="Text 6"/>
          <p:cNvSpPr/>
          <p:nvPr/>
        </p:nvSpPr>
        <p:spPr>
          <a:xfrm>
            <a:off x="638174" y="438209"/>
            <a:ext cx="30012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-120"/>
              </a:rPr>
              <a:t>합리적인 요금 · 최고의 안전 · </a:t>
            </a:r>
            <a:r>
              <a:rPr lang="en-US" sz="1200" b="1" dirty="0" err="1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-120"/>
              </a:rPr>
              <a:t>스마트</a:t>
            </a: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-120"/>
              </a:rPr>
              <a:t> </a:t>
            </a:r>
            <a:r>
              <a:rPr lang="en-US" sz="1200" b="1" dirty="0" err="1" smtClean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-120"/>
              </a:rPr>
              <a:t>관리</a:t>
            </a:r>
            <a:endParaRPr lang="en-US" sz="1200" b="1" dirty="0">
              <a:solidFill>
                <a:schemeClr val="accent3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250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446646" y="1403114"/>
            <a:ext cx="11298709" cy="4320000"/>
            <a:chOff x="524158" y="1377024"/>
            <a:chExt cx="11298709" cy="4320000"/>
          </a:xfrm>
        </p:grpSpPr>
        <p:sp>
          <p:nvSpPr>
            <p:cNvPr id="31" name="직사각형 30">
              <a:extLst>
                <a:ext uri="{FF2B5EF4-FFF2-40B4-BE49-F238E27FC236}">
                  <a16:creationId xmlns="" xmlns:a16="http://schemas.microsoft.com/office/drawing/2014/main" id="{69712B1F-6C50-CB4F-976D-6EF56598D108}"/>
                </a:ext>
              </a:extLst>
            </p:cNvPr>
            <p:cNvSpPr/>
            <p:nvPr/>
          </p:nvSpPr>
          <p:spPr>
            <a:xfrm>
              <a:off x="9122867" y="1377024"/>
              <a:ext cx="2700000" cy="4320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x-none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="" xmlns:a16="http://schemas.microsoft.com/office/drawing/2014/main" id="{5EF9DAA8-E5AE-CD4F-8076-5F37E83A4B03}"/>
                </a:ext>
              </a:extLst>
            </p:cNvPr>
            <p:cNvSpPr/>
            <p:nvPr/>
          </p:nvSpPr>
          <p:spPr>
            <a:xfrm>
              <a:off x="524158" y="1377024"/>
              <a:ext cx="2700000" cy="4320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x-none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="" xmlns:a16="http://schemas.microsoft.com/office/drawing/2014/main" id="{5EF9DAA8-E5AE-CD4F-8076-5F37E83A4B03}"/>
                </a:ext>
              </a:extLst>
            </p:cNvPr>
            <p:cNvSpPr/>
            <p:nvPr/>
          </p:nvSpPr>
          <p:spPr>
            <a:xfrm>
              <a:off x="3390394" y="1377024"/>
              <a:ext cx="2700000" cy="4320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x-none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="" xmlns:a16="http://schemas.microsoft.com/office/drawing/2014/main" id="{5EF9DAA8-E5AE-CD4F-8076-5F37E83A4B03}"/>
                </a:ext>
              </a:extLst>
            </p:cNvPr>
            <p:cNvSpPr/>
            <p:nvPr/>
          </p:nvSpPr>
          <p:spPr>
            <a:xfrm>
              <a:off x="6256630" y="1377024"/>
              <a:ext cx="2700000" cy="4320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x-none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8AAADD4-5F36-E94A-BEF8-F65A7E66BB78}"/>
              </a:ext>
            </a:extLst>
          </p:cNvPr>
          <p:cNvSpPr txBox="1"/>
          <p:nvPr/>
        </p:nvSpPr>
        <p:spPr>
          <a:xfrm>
            <a:off x="663088" y="1778771"/>
            <a:ext cx="2267115" cy="9848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x-none" sz="4000" b="1" dirty="0" smtClean="0">
                <a:solidFill>
                  <a:schemeClr val="bg1"/>
                </a:solidFill>
                <a:latin typeface="+mn-ea"/>
              </a:rPr>
              <a:t>30%↑</a:t>
            </a:r>
            <a:r>
              <a:rPr kumimoji="1" lang="en-US" altLang="x-none" sz="4000" b="1" dirty="0">
                <a:solidFill>
                  <a:schemeClr val="bg1"/>
                </a:solidFill>
                <a:latin typeface="+mn-ea"/>
              </a:rPr>
              <a:t/>
            </a:r>
            <a:br>
              <a:rPr kumimoji="1" lang="en-US" altLang="x-none" sz="4000" b="1" dirty="0">
                <a:solidFill>
                  <a:schemeClr val="bg1"/>
                </a:solidFill>
                <a:latin typeface="+mn-ea"/>
              </a:rPr>
            </a:br>
            <a:r>
              <a:rPr kumimoji="1" lang="ko-KR" altLang="en-US" b="1" dirty="0" err="1" smtClean="0">
                <a:solidFill>
                  <a:schemeClr val="bg1"/>
                </a:solidFill>
                <a:latin typeface="+mn-ea"/>
              </a:rPr>
              <a:t>전기차</a:t>
            </a:r>
            <a:r>
              <a:rPr kumimoji="1" lang="ko-KR" altLang="en-US" b="1" dirty="0" smtClean="0">
                <a:solidFill>
                  <a:schemeClr val="bg1"/>
                </a:solidFill>
                <a:latin typeface="+mn-ea"/>
              </a:rPr>
              <a:t> 보급률 상승</a:t>
            </a:r>
            <a:endParaRPr kumimoji="1" lang="en-US" altLang="x-none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D8EA3CE9-80B0-FA41-B387-19C12F84D37D}"/>
              </a:ext>
            </a:extLst>
          </p:cNvPr>
          <p:cNvSpPr txBox="1"/>
          <p:nvPr/>
        </p:nvSpPr>
        <p:spPr>
          <a:xfrm>
            <a:off x="9074183" y="1624881"/>
            <a:ext cx="264604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3600" b="1" dirty="0" smtClean="0">
                <a:solidFill>
                  <a:schemeClr val="bg1"/>
                </a:solidFill>
                <a:latin typeface="+mn-ea"/>
              </a:rPr>
              <a:t>알뜰 솔루션</a:t>
            </a:r>
            <a:endParaRPr kumimoji="1" lang="en-US" altLang="x-none" sz="3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46646" y="375309"/>
            <a:ext cx="65942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+mn-ea"/>
                <a:cs typeface="Arial Black" pitchFamily="34" charset="-120"/>
              </a:rPr>
              <a:t>왜 </a:t>
            </a:r>
            <a:r>
              <a:rPr lang="ko-KR" altLang="en-US" sz="2800" b="1" dirty="0" err="1" smtClean="0">
                <a:solidFill>
                  <a:srgbClr val="FFFFFF"/>
                </a:solidFill>
                <a:latin typeface="+mn-ea"/>
                <a:cs typeface="Arial Black" pitchFamily="34" charset="-120"/>
              </a:rPr>
              <a:t>알뜰차저</a:t>
            </a:r>
            <a:r>
              <a:rPr lang="en-US" sz="2800" b="1" dirty="0" smtClean="0">
                <a:solidFill>
                  <a:srgbClr val="FFFFFF"/>
                </a:solidFill>
                <a:latin typeface="+mn-ea"/>
                <a:cs typeface="Arial Black" pitchFamily="34" charset="-120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+mn-ea"/>
                <a:cs typeface="Arial Black" pitchFamily="34" charset="-120"/>
              </a:rPr>
              <a:t>충전기가 필요한가?</a:t>
            </a:r>
            <a:endParaRPr lang="en-US" sz="2800" dirty="0">
              <a:latin typeface="+mn-ea"/>
            </a:endParaRPr>
          </a:p>
        </p:txBody>
      </p:sp>
      <p:sp>
        <p:nvSpPr>
          <p:cNvPr id="22" name="Text 2"/>
          <p:cNvSpPr/>
          <p:nvPr/>
        </p:nvSpPr>
        <p:spPr>
          <a:xfrm>
            <a:off x="446646" y="965918"/>
            <a:ext cx="35245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</a:rPr>
              <a:t>충전은 매일 사용합니다 — 요금과 안전은 </a:t>
            </a:r>
            <a:r>
              <a:rPr lang="en-US" sz="1000" dirty="0" err="1">
                <a:solidFill>
                  <a:srgbClr val="A8C8E8"/>
                </a:solidFill>
              </a:rPr>
              <a:t>반드시</a:t>
            </a:r>
            <a:r>
              <a:rPr lang="en-US" sz="1000" dirty="0">
                <a:solidFill>
                  <a:srgbClr val="A8C8E8"/>
                </a:solidFill>
              </a:rPr>
              <a:t> </a:t>
            </a:r>
            <a:r>
              <a:rPr lang="en-US" sz="1000" dirty="0" err="1" smtClean="0">
                <a:solidFill>
                  <a:srgbClr val="A8C8E8"/>
                </a:solidFill>
              </a:rPr>
              <a:t>중요합니다</a:t>
            </a:r>
            <a:r>
              <a:rPr lang="en-US" sz="1000" dirty="0" smtClean="0">
                <a:solidFill>
                  <a:srgbClr val="A8C8E8"/>
                </a:solidFill>
              </a:rPr>
              <a:t>.</a:t>
            </a:r>
            <a:endParaRPr lang="en-US" sz="1000" dirty="0"/>
          </a:p>
        </p:txBody>
      </p:sp>
      <p:sp>
        <p:nvSpPr>
          <p:cNvPr id="27" name="Text 9"/>
          <p:cNvSpPr/>
          <p:nvPr/>
        </p:nvSpPr>
        <p:spPr>
          <a:xfrm>
            <a:off x="9279145" y="2642109"/>
            <a:ext cx="2236124" cy="1085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FFFFFF"/>
                </a:solidFill>
                <a:latin typeface="+mn-ea"/>
                <a:cs typeface="Arial Black" pitchFamily="34" charset="-120"/>
              </a:rPr>
              <a:t>265</a:t>
            </a:r>
            <a:r>
              <a:rPr lang="en-US" sz="2400" b="1" dirty="0">
                <a:solidFill>
                  <a:srgbClr val="FFFFFF"/>
                </a:solidFill>
                <a:latin typeface="+mn-ea"/>
                <a:cs typeface="Arial Black" pitchFamily="34" charset="-120"/>
              </a:rPr>
              <a:t>원/</a:t>
            </a:r>
            <a:r>
              <a:rPr lang="en-US" sz="2400" b="1" dirty="0" smtClean="0">
                <a:solidFill>
                  <a:srgbClr val="FFFFFF"/>
                </a:solidFill>
                <a:latin typeface="+mn-ea"/>
                <a:cs typeface="Arial Black" pitchFamily="34" charset="-120"/>
              </a:rPr>
              <a:t>kWh</a:t>
            </a:r>
          </a:p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+mn-ea"/>
                <a:cs typeface="Arial Black" pitchFamily="34" charset="-120"/>
              </a:rPr>
              <a:t>환경부 </a:t>
            </a:r>
            <a:r>
              <a:rPr lang="ko-KR" altLang="en-US" sz="1400" b="1" dirty="0" smtClean="0">
                <a:solidFill>
                  <a:srgbClr val="FFFFFF"/>
                </a:solidFill>
                <a:latin typeface="+mn-ea"/>
                <a:cs typeface="Arial Black" pitchFamily="34" charset="-120"/>
              </a:rPr>
              <a:t>기준요금 </a:t>
            </a:r>
            <a:r>
              <a:rPr lang="en-US" altLang="ko-KR" sz="1400" b="1" dirty="0" smtClean="0">
                <a:solidFill>
                  <a:srgbClr val="FFFFFF"/>
                </a:solidFill>
                <a:latin typeface="+mn-ea"/>
                <a:cs typeface="Arial Black" pitchFamily="34" charset="-120"/>
              </a:rPr>
              <a:t>90% </a:t>
            </a:r>
            <a:r>
              <a:rPr lang="ko-KR" altLang="en-US" sz="1400" b="1" dirty="0" smtClean="0">
                <a:solidFill>
                  <a:srgbClr val="FFFFFF"/>
                </a:solidFill>
                <a:latin typeface="+mn-ea"/>
                <a:cs typeface="Arial Black" pitchFamily="34" charset="-120"/>
              </a:rPr>
              <a:t>고정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ko-KR" altLang="en-US" sz="1400" b="1" dirty="0" smtClean="0">
                <a:solidFill>
                  <a:srgbClr val="FFFFFF"/>
                </a:solidFill>
                <a:latin typeface="+mn-ea"/>
                <a:cs typeface="Arial Black" pitchFamily="34" charset="-120"/>
              </a:rPr>
              <a:t>업계 최저수준 요금</a:t>
            </a:r>
            <a:endParaRPr lang="en-US" altLang="ko-KR" sz="1400" b="1" dirty="0" smtClean="0">
              <a:solidFill>
                <a:srgbClr val="FFFFFF"/>
              </a:solidFill>
              <a:latin typeface="+mn-ea"/>
              <a:cs typeface="Arial Black" pitchFamily="34" charset="-12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764523" y="6048236"/>
            <a:ext cx="66297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"</a:t>
            </a:r>
            <a:r>
              <a:rPr lang="ko-KR" altLang="en-US" sz="2000" b="1" dirty="0" smtClean="0">
                <a:solidFill>
                  <a:schemeClr val="bg1"/>
                </a:solidFill>
                <a:latin typeface="+mn-ea"/>
              </a:rPr>
              <a:t>충전요금과  화재 예방을 동시에 제공하는 알뜰 솔루션</a:t>
            </a:r>
            <a:r>
              <a:rPr lang="en-US" altLang="ko-KR" sz="2000" b="1" dirty="0" smtClean="0">
                <a:solidFill>
                  <a:schemeClr val="bg1"/>
                </a:solidFill>
                <a:latin typeface="+mn-ea"/>
              </a:rPr>
              <a:t>”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562206" y="3326737"/>
            <a:ext cx="2468880" cy="123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</a:rPr>
              <a:t>●  충전 대기시간 증가 입주민간 갈등</a:t>
            </a:r>
            <a:endParaRPr lang="en-US" altLang="ko-KR" sz="1100" b="1" dirty="0" smtClean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100" b="1" dirty="0" smtClean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100" b="1" dirty="0">
                <a:solidFill>
                  <a:schemeClr val="bg1"/>
                </a:solidFill>
                <a:latin typeface="+mn-ea"/>
              </a:rPr>
              <a:t>●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</a:rPr>
              <a:t> 충전소 부족으로 </a:t>
            </a:r>
            <a:r>
              <a:rPr lang="ko-KR" altLang="en-US" sz="1100" b="1" dirty="0" err="1" smtClean="0">
                <a:solidFill>
                  <a:schemeClr val="bg1"/>
                </a:solidFill>
                <a:latin typeface="+mn-ea"/>
              </a:rPr>
              <a:t>전기차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</a:rPr>
              <a:t> 구매 기피</a:t>
            </a:r>
            <a:endParaRPr lang="en-US" altLang="ko-KR" sz="1100" b="1" dirty="0" smtClean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100" b="1" dirty="0" smtClean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100" b="1" dirty="0">
                <a:solidFill>
                  <a:schemeClr val="bg1"/>
                </a:solidFill>
                <a:latin typeface="+mn-ea"/>
              </a:rPr>
              <a:t>●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</a:rPr>
              <a:t> 특정 충전소 과부하 및 고장 증가</a:t>
            </a:r>
            <a:endParaRPr lang="en-US" altLang="ko-KR" sz="11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08AAADD4-5F36-E94A-BEF8-F65A7E66BB78}"/>
              </a:ext>
            </a:extLst>
          </p:cNvPr>
          <p:cNvSpPr txBox="1"/>
          <p:nvPr/>
        </p:nvSpPr>
        <p:spPr>
          <a:xfrm>
            <a:off x="3406204" y="1778770"/>
            <a:ext cx="2513355" cy="9848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x-none" sz="4000" b="1" dirty="0" smtClean="0">
                <a:solidFill>
                  <a:schemeClr val="bg1"/>
                </a:solidFill>
                <a:latin typeface="+mn-ea"/>
              </a:rPr>
              <a:t>20%↑</a:t>
            </a:r>
            <a:r>
              <a:rPr kumimoji="1" lang="en-US" altLang="x-none" sz="4000" b="1" dirty="0">
                <a:solidFill>
                  <a:schemeClr val="bg1"/>
                </a:solidFill>
                <a:latin typeface="+mn-ea"/>
              </a:rPr>
              <a:t/>
            </a:r>
            <a:br>
              <a:rPr kumimoji="1" lang="en-US" altLang="x-none" sz="4000" b="1" dirty="0">
                <a:solidFill>
                  <a:schemeClr val="bg1"/>
                </a:solidFill>
                <a:latin typeface="+mn-ea"/>
              </a:rPr>
            </a:br>
            <a:r>
              <a:rPr kumimoji="1" lang="ko-KR" altLang="en-US" b="1" dirty="0" err="1" smtClean="0">
                <a:solidFill>
                  <a:schemeClr val="bg1"/>
                </a:solidFill>
                <a:latin typeface="+mn-ea"/>
              </a:rPr>
              <a:t>전기차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ko-KR" altLang="en-US" b="1" dirty="0" smtClean="0">
                <a:solidFill>
                  <a:schemeClr val="bg1"/>
                </a:solidFill>
                <a:latin typeface="+mn-ea"/>
              </a:rPr>
              <a:t>충전 요금 상승</a:t>
            </a:r>
            <a:endParaRPr kumimoji="1" lang="en-US" altLang="x-none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3428442" y="3328310"/>
            <a:ext cx="2468880" cy="123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</a:rPr>
              <a:t>●  충전요금 인상에 대한 부담</a:t>
            </a:r>
            <a:endParaRPr lang="en-US" altLang="ko-KR" sz="1100" b="1" dirty="0" smtClean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100" b="1" dirty="0" smtClean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100" b="1" dirty="0">
                <a:solidFill>
                  <a:schemeClr val="bg1"/>
                </a:solidFill>
                <a:latin typeface="+mn-ea"/>
              </a:rPr>
              <a:t>●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</a:rPr>
              <a:t> 운영사별 요금 차이 심화</a:t>
            </a:r>
            <a:endParaRPr lang="en-US" altLang="ko-KR" sz="1100" b="1" dirty="0" smtClean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100" b="1" dirty="0" smtClean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100" b="1" dirty="0">
                <a:solidFill>
                  <a:schemeClr val="bg1"/>
                </a:solidFill>
                <a:latin typeface="+mn-ea"/>
              </a:rPr>
              <a:t>●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</a:rPr>
              <a:t> 불안정적인 요금변동에 대한 불만</a:t>
            </a:r>
            <a:endParaRPr lang="en-US" altLang="ko-KR" sz="11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08AAADD4-5F36-E94A-BEF8-F65A7E66BB78}"/>
              </a:ext>
            </a:extLst>
          </p:cNvPr>
          <p:cNvSpPr txBox="1"/>
          <p:nvPr/>
        </p:nvSpPr>
        <p:spPr>
          <a:xfrm>
            <a:off x="6241401" y="1917269"/>
            <a:ext cx="2513355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4000" b="1" dirty="0" smtClean="0">
                <a:solidFill>
                  <a:schemeClr val="bg1"/>
                </a:solidFill>
                <a:latin typeface="+mn-ea"/>
              </a:rPr>
              <a:t>화재예방</a:t>
            </a:r>
            <a:endParaRPr kumimoji="1" lang="en-US" altLang="x-none" sz="40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5" name="Text 16"/>
          <p:cNvSpPr/>
          <p:nvPr/>
        </p:nvSpPr>
        <p:spPr>
          <a:xfrm>
            <a:off x="6331559" y="3328310"/>
            <a:ext cx="2468880" cy="123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/>
                </a:solidFill>
              </a:rPr>
              <a:t> </a:t>
            </a:r>
            <a:r>
              <a:rPr lang="ko-KR" altLang="en-US" sz="1100" b="1" dirty="0" smtClean="0">
                <a:solidFill>
                  <a:schemeClr val="bg1"/>
                </a:solidFill>
              </a:rPr>
              <a:t>● </a:t>
            </a:r>
            <a:r>
              <a:rPr lang="ko-KR" altLang="en-US" sz="1100" b="1" dirty="0" err="1" smtClean="0">
                <a:solidFill>
                  <a:schemeClr val="bg1"/>
                </a:solidFill>
              </a:rPr>
              <a:t>전기차</a:t>
            </a:r>
            <a:r>
              <a:rPr lang="ko-KR" altLang="en-US" sz="1100" b="1" dirty="0" smtClean="0">
                <a:solidFill>
                  <a:schemeClr val="bg1"/>
                </a:solidFill>
              </a:rPr>
              <a:t> 화재 예방 대응부족</a:t>
            </a:r>
            <a:endParaRPr lang="en-US" altLang="ko-KR" sz="11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1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chemeClr val="bg1"/>
                </a:solidFill>
              </a:rPr>
              <a:t> </a:t>
            </a:r>
            <a:r>
              <a:rPr lang="ko-KR" altLang="en-US" sz="1100" b="1" dirty="0">
                <a:solidFill>
                  <a:schemeClr val="bg1"/>
                </a:solidFill>
              </a:rPr>
              <a:t>● </a:t>
            </a:r>
            <a:r>
              <a:rPr lang="ko-KR" altLang="en-US" sz="1100" b="1" dirty="0" smtClean="0">
                <a:solidFill>
                  <a:schemeClr val="bg1"/>
                </a:solidFill>
              </a:rPr>
              <a:t> 전기차량에 대한 안전불감증</a:t>
            </a:r>
            <a:endParaRPr lang="en-US" altLang="ko-KR" sz="11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1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chemeClr val="bg1"/>
                </a:solidFill>
              </a:rPr>
              <a:t> </a:t>
            </a:r>
            <a:r>
              <a:rPr lang="ko-KR" altLang="en-US" sz="1100" b="1" dirty="0">
                <a:solidFill>
                  <a:schemeClr val="bg1"/>
                </a:solidFill>
              </a:rPr>
              <a:t>● </a:t>
            </a:r>
            <a:r>
              <a:rPr lang="ko-KR" altLang="en-US" sz="1100" b="1" dirty="0" smtClean="0">
                <a:solidFill>
                  <a:schemeClr val="bg1"/>
                </a:solidFill>
              </a:rPr>
              <a:t> 입주민간의 선입견과 불신</a:t>
            </a:r>
            <a:endParaRPr lang="en-US" altLang="ko-KR" sz="1100" b="1" dirty="0" smtClean="0">
              <a:solidFill>
                <a:schemeClr val="bg1"/>
              </a:solidFill>
            </a:endParaRPr>
          </a:p>
        </p:txBody>
      </p:sp>
      <p:sp>
        <p:nvSpPr>
          <p:cNvPr id="46" name="Text 9"/>
          <p:cNvSpPr/>
          <p:nvPr/>
        </p:nvSpPr>
        <p:spPr>
          <a:xfrm>
            <a:off x="9105224" y="3956714"/>
            <a:ext cx="2583965" cy="1085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2200" b="1" dirty="0" err="1" smtClean="0">
                <a:solidFill>
                  <a:srgbClr val="FFFFFF"/>
                </a:solidFill>
                <a:latin typeface="+mn-ea"/>
              </a:rPr>
              <a:t>전기차</a:t>
            </a:r>
            <a:r>
              <a:rPr lang="ko-KR" altLang="en-US" sz="2200" b="1" dirty="0" smtClean="0">
                <a:solidFill>
                  <a:srgbClr val="FFFFFF"/>
                </a:solidFill>
                <a:latin typeface="+mn-ea"/>
              </a:rPr>
              <a:t> 화재 감지</a:t>
            </a:r>
            <a:endParaRPr lang="en-US" altLang="ko-KR" sz="2200" b="1" dirty="0" smtClean="0">
              <a:solidFill>
                <a:srgbClr val="FFFFFF"/>
              </a:solidFill>
              <a:latin typeface="+mn-ea"/>
            </a:endParaRPr>
          </a:p>
          <a:p>
            <a:pPr algn="ctr"/>
            <a:r>
              <a:rPr lang="ko-KR" altLang="en-US" sz="2200" b="1" dirty="0" smtClean="0">
                <a:solidFill>
                  <a:srgbClr val="FFFFFF"/>
                </a:solidFill>
                <a:latin typeface="+mn-ea"/>
              </a:rPr>
              <a:t>시스템 제공</a:t>
            </a:r>
            <a:endParaRPr lang="en-US" altLang="ko-KR" sz="2200" b="1" dirty="0" smtClean="0">
              <a:solidFill>
                <a:srgbClr val="FFFFFF"/>
              </a:solidFill>
              <a:latin typeface="+mn-ea"/>
            </a:endParaRPr>
          </a:p>
          <a:p>
            <a:pPr algn="ctr"/>
            <a:r>
              <a:rPr lang="ko-KR" altLang="en-US" sz="1400" b="1" dirty="0" smtClean="0">
                <a:solidFill>
                  <a:srgbClr val="FFFFFF"/>
                </a:solidFill>
                <a:latin typeface="+mn-ea"/>
              </a:rPr>
              <a:t>실시간 </a:t>
            </a:r>
            <a:r>
              <a:rPr lang="ko-KR" altLang="en-US" sz="1400" b="1" dirty="0" err="1" smtClean="0">
                <a:solidFill>
                  <a:srgbClr val="FFFFFF"/>
                </a:solidFill>
                <a:latin typeface="+mn-ea"/>
              </a:rPr>
              <a:t>베터리온도</a:t>
            </a:r>
            <a:r>
              <a:rPr lang="ko-KR" altLang="en-US" sz="1400" b="1" dirty="0" smtClean="0">
                <a:solidFill>
                  <a:srgbClr val="FFFFFF"/>
                </a:solidFill>
                <a:latin typeface="+mn-ea"/>
              </a:rPr>
              <a:t> 모니터링</a:t>
            </a:r>
            <a:endParaRPr 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1880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76686" y="1922090"/>
            <a:ext cx="5686826" cy="2116817"/>
          </a:xfrm>
        </p:spPr>
        <p:txBody>
          <a:bodyPr>
            <a:normAutofit fontScale="90000"/>
          </a:bodyPr>
          <a:lstStyle/>
          <a:p>
            <a:pPr algn="ctr">
              <a:lnSpc>
                <a:spcPct val="200000"/>
              </a:lnSpc>
            </a:pPr>
            <a:r>
              <a:rPr lang="en-US" altLang="ko-KR" sz="3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알뜰차저</a:t>
            </a:r>
            <a:r>
              <a:rPr lang="en-US" altLang="ko-KR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altLang="ko-KR" sz="36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 </a:t>
            </a:r>
            <a:r>
              <a:rPr lang="en-US" altLang="ko-KR" sz="3600" b="1" dirty="0" err="1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r>
              <a:rPr lang="en-US" altLang="ko-KR" sz="36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-Sensor </a:t>
            </a:r>
            <a:r>
              <a:rPr lang="ko-KR" altLang="en-US" sz="36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제휴</a:t>
            </a:r>
            <a:r>
              <a:rPr lang="en-US" altLang="ko-KR" sz="16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/>
            </a:r>
            <a:br>
              <a:rPr lang="en-US" altLang="ko-KR" sz="16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</a:br>
            <a:r>
              <a:rPr lang="en-US" altLang="ko-KR" sz="16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Status: ACTIVE ✓</a:t>
            </a:r>
            <a:r>
              <a:rPr lang="en-US" altLang="ko-KR" sz="1600" dirty="0"/>
              <a:t/>
            </a:r>
            <a:br>
              <a:rPr lang="en-US" altLang="ko-KR" sz="1600" dirty="0"/>
            </a:br>
            <a:r>
              <a:rPr lang="en-US" altLang="ko-KR" sz="1600" dirty="0">
                <a:solidFill>
                  <a:srgbClr val="A8E8D0"/>
                </a:solidFill>
              </a:rPr>
              <a:t>Live </a:t>
            </a:r>
            <a:r>
              <a:rPr lang="en-US" altLang="ko-KR" sz="1600" dirty="0" err="1">
                <a:solidFill>
                  <a:srgbClr val="A8E8D0"/>
                </a:solidFill>
              </a:rPr>
              <a:t>i</a:t>
            </a:r>
            <a:r>
              <a:rPr lang="en-US" altLang="ko-KR" sz="1600" dirty="0">
                <a:solidFill>
                  <a:srgbClr val="A8E8D0"/>
                </a:solidFill>
              </a:rPr>
              <a:t>-Sensor Monitoring — </a:t>
            </a:r>
            <a:r>
              <a:rPr lang="en-US" altLang="ko-KR" sz="1600" dirty="0" err="1">
                <a:solidFill>
                  <a:srgbClr val="A8E8D0"/>
                </a:solidFill>
              </a:rPr>
              <a:t>이상</a:t>
            </a:r>
            <a:r>
              <a:rPr lang="en-US" altLang="ko-KR" sz="1600" dirty="0">
                <a:solidFill>
                  <a:srgbClr val="A8E8D0"/>
                </a:solidFill>
              </a:rPr>
              <a:t> </a:t>
            </a:r>
            <a:r>
              <a:rPr lang="en-US" altLang="ko-KR" sz="1600" dirty="0" err="1">
                <a:solidFill>
                  <a:srgbClr val="A8E8D0"/>
                </a:solidFill>
              </a:rPr>
              <a:t>없음</a:t>
            </a:r>
            <a:r>
              <a:rPr lang="en-US" altLang="ko-KR" sz="1600" dirty="0"/>
              <a:t/>
            </a:r>
            <a:br>
              <a:rPr lang="en-US" altLang="ko-KR" sz="1600" dirty="0"/>
            </a:br>
            <a:endParaRPr lang="en-US" altLang="ko-KR" sz="1600" dirty="0"/>
          </a:p>
        </p:txBody>
      </p:sp>
      <p:sp>
        <p:nvSpPr>
          <p:cNvPr id="36" name="직사각형 35">
            <a:extLst>
              <a:ext uri="{FF2B5EF4-FFF2-40B4-BE49-F238E27FC236}">
                <a16:creationId xmlns="" xmlns:a16="http://schemas.microsoft.com/office/drawing/2014/main" id="{A749D2A0-525D-7548-AE70-BF188C1F6958}"/>
              </a:ext>
            </a:extLst>
          </p:cNvPr>
          <p:cNvSpPr/>
          <p:nvPr/>
        </p:nvSpPr>
        <p:spPr>
          <a:xfrm>
            <a:off x="12021124" y="0"/>
            <a:ext cx="17087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622028" y="712333"/>
            <a:ext cx="10947944" cy="5342376"/>
            <a:chOff x="705109" y="712333"/>
            <a:chExt cx="10947944" cy="5342376"/>
          </a:xfrm>
        </p:grpSpPr>
        <p:sp>
          <p:nvSpPr>
            <p:cNvPr id="7" name="자유형 6"/>
            <p:cNvSpPr/>
            <p:nvPr/>
          </p:nvSpPr>
          <p:spPr>
            <a:xfrm>
              <a:off x="866527" y="2324082"/>
              <a:ext cx="4285099" cy="656337"/>
            </a:xfrm>
            <a:custGeom>
              <a:avLst/>
              <a:gdLst>
                <a:gd name="connsiteX0" fmla="*/ 706285 w 7877196"/>
                <a:gd name="connsiteY0" fmla="*/ 0 h 720000"/>
                <a:gd name="connsiteX1" fmla="*/ 7877196 w 7877196"/>
                <a:gd name="connsiteY1" fmla="*/ 0 h 720000"/>
                <a:gd name="connsiteX2" fmla="*/ 7877196 w 7877196"/>
                <a:gd name="connsiteY2" fmla="*/ 720000 h 720000"/>
                <a:gd name="connsiteX3" fmla="*/ 0 w 7877196"/>
                <a:gd name="connsiteY3" fmla="*/ 72000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7196" h="720000">
                  <a:moveTo>
                    <a:pt x="706285" y="0"/>
                  </a:moveTo>
                  <a:lnTo>
                    <a:pt x="7877196" y="0"/>
                  </a:lnTo>
                  <a:lnTo>
                    <a:pt x="7877196" y="720000"/>
                  </a:lnTo>
                  <a:lnTo>
                    <a:pt x="0" y="72000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latin typeface="Calibri" panose="020F0502020204030204" pitchFamily="34" charset="0"/>
                <a:ea typeface="맑은 고딕" pitchFamily="50" charset="-127"/>
              </a:endParaRPr>
            </a:p>
          </p:txBody>
        </p:sp>
        <p:sp>
          <p:nvSpPr>
            <p:cNvPr id="8" name="자유형 7"/>
            <p:cNvSpPr/>
            <p:nvPr/>
          </p:nvSpPr>
          <p:spPr>
            <a:xfrm flipH="1">
              <a:off x="759903" y="2324083"/>
              <a:ext cx="491694" cy="1107590"/>
            </a:xfrm>
            <a:custGeom>
              <a:avLst/>
              <a:gdLst>
                <a:gd name="connsiteX0" fmla="*/ 25437 w 720000"/>
                <a:gd name="connsiteY0" fmla="*/ 0 h 1476164"/>
                <a:gd name="connsiteX1" fmla="*/ 0 w 720000"/>
                <a:gd name="connsiteY1" fmla="*/ 0 h 1476164"/>
                <a:gd name="connsiteX2" fmla="*/ 0 w 720000"/>
                <a:gd name="connsiteY2" fmla="*/ 1476164 h 1476164"/>
                <a:gd name="connsiteX3" fmla="*/ 720000 w 720000"/>
                <a:gd name="connsiteY3" fmla="*/ 1476164 h 1476164"/>
                <a:gd name="connsiteX4" fmla="*/ 720000 w 720000"/>
                <a:gd name="connsiteY4" fmla="*/ 694640 h 147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000" h="1476164">
                  <a:moveTo>
                    <a:pt x="25437" y="0"/>
                  </a:moveTo>
                  <a:lnTo>
                    <a:pt x="0" y="0"/>
                  </a:lnTo>
                  <a:lnTo>
                    <a:pt x="0" y="1476164"/>
                  </a:lnTo>
                  <a:lnTo>
                    <a:pt x="720000" y="1476164"/>
                  </a:lnTo>
                  <a:lnTo>
                    <a:pt x="720000" y="69464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latin typeface="Calibri" panose="020F0502020204030204" pitchFamily="34" charset="0"/>
                <a:ea typeface="맑은 고딕" pitchFamily="50" charset="-127"/>
              </a:endParaRPr>
            </a:p>
          </p:txBody>
        </p:sp>
        <p:sp>
          <p:nvSpPr>
            <p:cNvPr id="5" name="Text Box 8"/>
            <p:cNvSpPr txBox="1">
              <a:spLocks noChangeArrowheads="1"/>
            </p:cNvSpPr>
            <p:nvPr/>
          </p:nvSpPr>
          <p:spPr bwMode="auto">
            <a:xfrm>
              <a:off x="705109" y="2838634"/>
              <a:ext cx="60827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ctr">
                <a:defRPr/>
              </a:pPr>
              <a:r>
                <a:rPr lang="en-US" altLang="ko-KR" sz="2400" dirty="0">
                  <a:solidFill>
                    <a:schemeClr val="bg1"/>
                  </a:solidFill>
                  <a:latin typeface="+mj-lt"/>
                  <a:ea typeface="맑은 고딕" pitchFamily="50" charset="-127"/>
                </a:rPr>
                <a:t>A</a:t>
              </a:r>
              <a:endParaRPr lang="ko-KR" altLang="ko-KR" sz="2400" dirty="0">
                <a:solidFill>
                  <a:schemeClr val="bg1"/>
                </a:solidFill>
                <a:latin typeface="+mj-lt"/>
                <a:ea typeface="맑은 고딕" pitchFamily="50" charset="-127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83160" y="2389783"/>
              <a:ext cx="3793405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smtClean="0">
                  <a:solidFill>
                    <a:schemeClr val="bg1"/>
                  </a:solidFill>
                  <a:ea typeface="맑은 고딕" pitchFamily="50" charset="-127"/>
                </a:rPr>
                <a:t>실시간 </a:t>
              </a:r>
              <a:r>
                <a:rPr lang="ko-KR" altLang="en-US" sz="1100" dirty="0" err="1" smtClean="0">
                  <a:solidFill>
                    <a:schemeClr val="bg1"/>
                  </a:solidFill>
                  <a:ea typeface="맑은 고딕" pitchFamily="50" charset="-127"/>
                </a:rPr>
                <a:t>이상감지</a:t>
              </a:r>
              <a:endParaRPr lang="en-US" altLang="ko-KR" sz="1100" dirty="0" smtClean="0">
                <a:solidFill>
                  <a:schemeClr val="bg1"/>
                </a:solidFill>
                <a:ea typeface="맑은 고딕" pitchFamily="50" charset="-127"/>
              </a:endParaRPr>
            </a:p>
            <a:p>
              <a:r>
                <a:rPr lang="en-US" altLang="ko-KR" sz="1100" dirty="0" smtClean="0">
                  <a:solidFill>
                    <a:srgbClr val="FFFFFF"/>
                  </a:solidFill>
                </a:rPr>
                <a:t>     </a:t>
              </a:r>
              <a:r>
                <a:rPr lang="en-US" altLang="ko-KR" sz="1100" dirty="0" err="1" smtClean="0">
                  <a:solidFill>
                    <a:srgbClr val="FFFFFF"/>
                  </a:solidFill>
                </a:rPr>
                <a:t>충전</a:t>
              </a:r>
              <a:r>
                <a:rPr lang="en-US" altLang="ko-KR" sz="1100" dirty="0" smtClean="0">
                  <a:solidFill>
                    <a:srgbClr val="FFFFFF"/>
                  </a:solidFill>
                </a:rPr>
                <a:t> </a:t>
              </a:r>
              <a:r>
                <a:rPr lang="en-US" altLang="ko-KR" sz="1100" dirty="0">
                  <a:solidFill>
                    <a:srgbClr val="FFFFFF"/>
                  </a:solidFill>
                </a:rPr>
                <a:t>중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전류·온도</a:t>
              </a:r>
              <a:r>
                <a:rPr lang="en-US" altLang="ko-KR" sz="1100" dirty="0">
                  <a:solidFill>
                    <a:srgbClr val="FFFFFF"/>
                  </a:solidFill>
                </a:rPr>
                <a:t> 등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이상</a:t>
              </a:r>
              <a:r>
                <a:rPr lang="en-US" altLang="ko-KR" sz="1100" dirty="0">
                  <a:solidFill>
                    <a:srgbClr val="FFFFFF"/>
                  </a:solidFill>
                </a:rPr>
                <a:t>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징후를</a:t>
              </a:r>
              <a:r>
                <a:rPr lang="en-US" altLang="ko-KR" sz="1100" dirty="0">
                  <a:solidFill>
                    <a:srgbClr val="FFFFFF"/>
                  </a:solidFill>
                </a:rPr>
                <a:t> AI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센서로</a:t>
              </a:r>
              <a:r>
                <a:rPr lang="en-US" altLang="ko-KR" sz="1100" dirty="0">
                  <a:solidFill>
                    <a:srgbClr val="FFFFFF"/>
                  </a:solidFill>
                </a:rPr>
                <a:t>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즉시</a:t>
              </a:r>
              <a:r>
                <a:rPr lang="en-US" altLang="ko-KR" sz="1100" dirty="0">
                  <a:solidFill>
                    <a:srgbClr val="FFFFFF"/>
                  </a:solidFill>
                </a:rPr>
                <a:t>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감지</a:t>
              </a:r>
              <a:endParaRPr lang="en-US" altLang="ko-KR" sz="1100" dirty="0"/>
            </a:p>
          </p:txBody>
        </p:sp>
        <p:sp>
          <p:nvSpPr>
            <p:cNvPr id="10" name="자유형 9"/>
            <p:cNvSpPr/>
            <p:nvPr/>
          </p:nvSpPr>
          <p:spPr>
            <a:xfrm flipH="1">
              <a:off x="1427157" y="3184669"/>
              <a:ext cx="4287350" cy="656337"/>
            </a:xfrm>
            <a:custGeom>
              <a:avLst/>
              <a:gdLst>
                <a:gd name="connsiteX0" fmla="*/ 706285 w 7877196"/>
                <a:gd name="connsiteY0" fmla="*/ 0 h 720000"/>
                <a:gd name="connsiteX1" fmla="*/ 7877196 w 7877196"/>
                <a:gd name="connsiteY1" fmla="*/ 0 h 720000"/>
                <a:gd name="connsiteX2" fmla="*/ 7877196 w 7877196"/>
                <a:gd name="connsiteY2" fmla="*/ 720000 h 720000"/>
                <a:gd name="connsiteX3" fmla="*/ 0 w 7877196"/>
                <a:gd name="connsiteY3" fmla="*/ 72000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7196" h="720000">
                  <a:moveTo>
                    <a:pt x="706285" y="0"/>
                  </a:moveTo>
                  <a:lnTo>
                    <a:pt x="7877196" y="0"/>
                  </a:lnTo>
                  <a:lnTo>
                    <a:pt x="7877196" y="720000"/>
                  </a:lnTo>
                  <a:lnTo>
                    <a:pt x="0" y="72000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latin typeface="Calibri" panose="020F0502020204030204" pitchFamily="34" charset="0"/>
                <a:ea typeface="맑은 고딕" pitchFamily="50" charset="-127"/>
              </a:endParaRPr>
            </a:p>
          </p:txBody>
        </p:sp>
        <p:sp>
          <p:nvSpPr>
            <p:cNvPr id="11" name="자유형 10"/>
            <p:cNvSpPr/>
            <p:nvPr/>
          </p:nvSpPr>
          <p:spPr>
            <a:xfrm>
              <a:off x="5334312" y="3184670"/>
              <a:ext cx="552229" cy="1107590"/>
            </a:xfrm>
            <a:custGeom>
              <a:avLst/>
              <a:gdLst>
                <a:gd name="connsiteX0" fmla="*/ 25437 w 720000"/>
                <a:gd name="connsiteY0" fmla="*/ 0 h 1476164"/>
                <a:gd name="connsiteX1" fmla="*/ 0 w 720000"/>
                <a:gd name="connsiteY1" fmla="*/ 0 h 1476164"/>
                <a:gd name="connsiteX2" fmla="*/ 0 w 720000"/>
                <a:gd name="connsiteY2" fmla="*/ 1476164 h 1476164"/>
                <a:gd name="connsiteX3" fmla="*/ 720000 w 720000"/>
                <a:gd name="connsiteY3" fmla="*/ 1476164 h 1476164"/>
                <a:gd name="connsiteX4" fmla="*/ 720000 w 720000"/>
                <a:gd name="connsiteY4" fmla="*/ 694640 h 147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000" h="1476164">
                  <a:moveTo>
                    <a:pt x="25437" y="0"/>
                  </a:moveTo>
                  <a:lnTo>
                    <a:pt x="0" y="0"/>
                  </a:lnTo>
                  <a:lnTo>
                    <a:pt x="0" y="1476164"/>
                  </a:lnTo>
                  <a:lnTo>
                    <a:pt x="720000" y="1476164"/>
                  </a:lnTo>
                  <a:lnTo>
                    <a:pt x="720000" y="69464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latin typeface="Calibri" panose="020F0502020204030204" pitchFamily="34" charset="0"/>
                <a:ea typeface="맑은 고딕" pitchFamily="50" charset="-127"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5183635" y="3780754"/>
              <a:ext cx="85358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ctr">
                <a:defRPr/>
              </a:pPr>
              <a:r>
                <a:rPr lang="en-US" altLang="ko-KR" sz="2400" dirty="0">
                  <a:solidFill>
                    <a:schemeClr val="bg1"/>
                  </a:solidFill>
                  <a:latin typeface="+mj-lt"/>
                  <a:ea typeface="맑은 고딕" pitchFamily="50" charset="-127"/>
                </a:rPr>
                <a:t>B</a:t>
              </a:r>
              <a:endParaRPr lang="ko-KR" altLang="ko-KR" sz="2400" dirty="0">
                <a:solidFill>
                  <a:schemeClr val="bg1"/>
                </a:solidFill>
                <a:latin typeface="+mj-lt"/>
                <a:ea typeface="맑은 고딕" pitchFamily="50" charset="-127"/>
              </a:endParaRPr>
            </a:p>
          </p:txBody>
        </p:sp>
        <p:sp>
          <p:nvSpPr>
            <p:cNvPr id="15" name="자유형 14"/>
            <p:cNvSpPr/>
            <p:nvPr/>
          </p:nvSpPr>
          <p:spPr>
            <a:xfrm>
              <a:off x="866527" y="4038906"/>
              <a:ext cx="4285099" cy="656337"/>
            </a:xfrm>
            <a:custGeom>
              <a:avLst/>
              <a:gdLst>
                <a:gd name="connsiteX0" fmla="*/ 706285 w 7877196"/>
                <a:gd name="connsiteY0" fmla="*/ 0 h 720000"/>
                <a:gd name="connsiteX1" fmla="*/ 7877196 w 7877196"/>
                <a:gd name="connsiteY1" fmla="*/ 0 h 720000"/>
                <a:gd name="connsiteX2" fmla="*/ 7877196 w 7877196"/>
                <a:gd name="connsiteY2" fmla="*/ 720000 h 720000"/>
                <a:gd name="connsiteX3" fmla="*/ 0 w 7877196"/>
                <a:gd name="connsiteY3" fmla="*/ 72000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7196" h="720000">
                  <a:moveTo>
                    <a:pt x="706285" y="0"/>
                  </a:moveTo>
                  <a:lnTo>
                    <a:pt x="7877196" y="0"/>
                  </a:lnTo>
                  <a:lnTo>
                    <a:pt x="7877196" y="720000"/>
                  </a:lnTo>
                  <a:lnTo>
                    <a:pt x="0" y="7200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latin typeface="Calibri" panose="020F0502020204030204" pitchFamily="34" charset="0"/>
                <a:ea typeface="맑은 고딕" pitchFamily="50" charset="-127"/>
              </a:endParaRPr>
            </a:p>
          </p:txBody>
        </p:sp>
        <p:sp>
          <p:nvSpPr>
            <p:cNvPr id="16" name="자유형 15"/>
            <p:cNvSpPr/>
            <p:nvPr/>
          </p:nvSpPr>
          <p:spPr>
            <a:xfrm flipH="1">
              <a:off x="759903" y="4038907"/>
              <a:ext cx="491694" cy="1107590"/>
            </a:xfrm>
            <a:custGeom>
              <a:avLst/>
              <a:gdLst>
                <a:gd name="connsiteX0" fmla="*/ 25437 w 720000"/>
                <a:gd name="connsiteY0" fmla="*/ 0 h 1476164"/>
                <a:gd name="connsiteX1" fmla="*/ 0 w 720000"/>
                <a:gd name="connsiteY1" fmla="*/ 0 h 1476164"/>
                <a:gd name="connsiteX2" fmla="*/ 0 w 720000"/>
                <a:gd name="connsiteY2" fmla="*/ 1476164 h 1476164"/>
                <a:gd name="connsiteX3" fmla="*/ 720000 w 720000"/>
                <a:gd name="connsiteY3" fmla="*/ 1476164 h 1476164"/>
                <a:gd name="connsiteX4" fmla="*/ 720000 w 720000"/>
                <a:gd name="connsiteY4" fmla="*/ 694640 h 147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000" h="1476164">
                  <a:moveTo>
                    <a:pt x="25437" y="0"/>
                  </a:moveTo>
                  <a:lnTo>
                    <a:pt x="0" y="0"/>
                  </a:lnTo>
                  <a:lnTo>
                    <a:pt x="0" y="1476164"/>
                  </a:lnTo>
                  <a:lnTo>
                    <a:pt x="720000" y="1476164"/>
                  </a:lnTo>
                  <a:lnTo>
                    <a:pt x="720000" y="69464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latin typeface="Calibri" panose="020F0502020204030204" pitchFamily="34" charset="0"/>
                <a:ea typeface="맑은 고딕" pitchFamily="50" charset="-127"/>
              </a:endParaRPr>
            </a:p>
          </p:txBody>
        </p:sp>
        <p:sp>
          <p:nvSpPr>
            <p:cNvPr id="17" name="Text Box 8"/>
            <p:cNvSpPr txBox="1">
              <a:spLocks noChangeArrowheads="1"/>
            </p:cNvSpPr>
            <p:nvPr/>
          </p:nvSpPr>
          <p:spPr bwMode="auto">
            <a:xfrm>
              <a:off x="705109" y="4563870"/>
              <a:ext cx="60827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ctr">
                <a:defRPr/>
              </a:pPr>
              <a:r>
                <a:rPr lang="en-US" altLang="ko-KR" sz="2400" dirty="0">
                  <a:solidFill>
                    <a:schemeClr val="bg1"/>
                  </a:solidFill>
                  <a:latin typeface="+mj-lt"/>
                  <a:ea typeface="맑은 고딕" pitchFamily="50" charset="-127"/>
                </a:rPr>
                <a:t>C</a:t>
              </a:r>
              <a:endParaRPr lang="ko-KR" altLang="ko-KR" sz="2400" dirty="0">
                <a:solidFill>
                  <a:schemeClr val="bg1"/>
                </a:solidFill>
                <a:latin typeface="+mj-lt"/>
                <a:ea typeface="맑은 고딕" pitchFamily="50" charset="-127"/>
              </a:endParaRPr>
            </a:p>
          </p:txBody>
        </p:sp>
        <p:sp>
          <p:nvSpPr>
            <p:cNvPr id="23" name="자유형 22"/>
            <p:cNvSpPr/>
            <p:nvPr/>
          </p:nvSpPr>
          <p:spPr>
            <a:xfrm flipH="1">
              <a:off x="1467437" y="4947118"/>
              <a:ext cx="4247070" cy="656337"/>
            </a:xfrm>
            <a:custGeom>
              <a:avLst/>
              <a:gdLst>
                <a:gd name="connsiteX0" fmla="*/ 706285 w 7877196"/>
                <a:gd name="connsiteY0" fmla="*/ 0 h 720000"/>
                <a:gd name="connsiteX1" fmla="*/ 7877196 w 7877196"/>
                <a:gd name="connsiteY1" fmla="*/ 0 h 720000"/>
                <a:gd name="connsiteX2" fmla="*/ 7877196 w 7877196"/>
                <a:gd name="connsiteY2" fmla="*/ 720000 h 720000"/>
                <a:gd name="connsiteX3" fmla="*/ 0 w 7877196"/>
                <a:gd name="connsiteY3" fmla="*/ 72000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7196" h="720000">
                  <a:moveTo>
                    <a:pt x="706285" y="0"/>
                  </a:moveTo>
                  <a:lnTo>
                    <a:pt x="7877196" y="0"/>
                  </a:lnTo>
                  <a:lnTo>
                    <a:pt x="7877196" y="720000"/>
                  </a:lnTo>
                  <a:lnTo>
                    <a:pt x="0" y="7200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latin typeface="Calibri" panose="020F0502020204030204" pitchFamily="34" charset="0"/>
                <a:ea typeface="맑은 고딕" pitchFamily="50" charset="-127"/>
              </a:endParaRPr>
            </a:p>
          </p:txBody>
        </p:sp>
        <p:sp>
          <p:nvSpPr>
            <p:cNvPr id="24" name="자유형 23"/>
            <p:cNvSpPr/>
            <p:nvPr/>
          </p:nvSpPr>
          <p:spPr>
            <a:xfrm>
              <a:off x="5334312" y="4947119"/>
              <a:ext cx="552229" cy="1107590"/>
            </a:xfrm>
            <a:custGeom>
              <a:avLst/>
              <a:gdLst>
                <a:gd name="connsiteX0" fmla="*/ 25437 w 720000"/>
                <a:gd name="connsiteY0" fmla="*/ 0 h 1476164"/>
                <a:gd name="connsiteX1" fmla="*/ 0 w 720000"/>
                <a:gd name="connsiteY1" fmla="*/ 0 h 1476164"/>
                <a:gd name="connsiteX2" fmla="*/ 0 w 720000"/>
                <a:gd name="connsiteY2" fmla="*/ 1476164 h 1476164"/>
                <a:gd name="connsiteX3" fmla="*/ 720000 w 720000"/>
                <a:gd name="connsiteY3" fmla="*/ 1476164 h 1476164"/>
                <a:gd name="connsiteX4" fmla="*/ 720000 w 720000"/>
                <a:gd name="connsiteY4" fmla="*/ 694640 h 147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000" h="1476164">
                  <a:moveTo>
                    <a:pt x="25437" y="0"/>
                  </a:moveTo>
                  <a:lnTo>
                    <a:pt x="0" y="0"/>
                  </a:lnTo>
                  <a:lnTo>
                    <a:pt x="0" y="1476164"/>
                  </a:lnTo>
                  <a:lnTo>
                    <a:pt x="720000" y="1476164"/>
                  </a:lnTo>
                  <a:lnTo>
                    <a:pt x="720000" y="69464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latin typeface="Calibri" panose="020F0502020204030204" pitchFamily="34" charset="0"/>
                <a:ea typeface="맑은 고딕" pitchFamily="50" charset="-127"/>
              </a:endParaRPr>
            </a:p>
          </p:txBody>
        </p:sp>
        <p:sp>
          <p:nvSpPr>
            <p:cNvPr id="21" name="Text Box 8"/>
            <p:cNvSpPr txBox="1">
              <a:spLocks noChangeArrowheads="1"/>
            </p:cNvSpPr>
            <p:nvPr/>
          </p:nvSpPr>
          <p:spPr bwMode="auto">
            <a:xfrm>
              <a:off x="5183635" y="5500914"/>
              <a:ext cx="85358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ctr">
                <a:defRPr/>
              </a:pPr>
              <a:r>
                <a:rPr lang="en-US" altLang="ko-KR" sz="2400" dirty="0">
                  <a:solidFill>
                    <a:schemeClr val="bg1"/>
                  </a:solidFill>
                  <a:latin typeface="+mj-lt"/>
                  <a:ea typeface="맑은 고딕" pitchFamily="50" charset="-127"/>
                </a:rPr>
                <a:t>D</a:t>
              </a:r>
              <a:endParaRPr lang="ko-KR" altLang="ko-KR" sz="2400" dirty="0">
                <a:solidFill>
                  <a:schemeClr val="bg1"/>
                </a:solidFill>
                <a:latin typeface="+mj-lt"/>
                <a:ea typeface="맑은 고딕" pitchFamily="50" charset="-127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427156" y="3234548"/>
              <a:ext cx="3754044" cy="68480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smtClean="0">
                  <a:solidFill>
                    <a:schemeClr val="bg1"/>
                  </a:solidFill>
                  <a:ea typeface="맑은 고딕" pitchFamily="50" charset="-127"/>
                </a:rPr>
                <a:t>자동 충전 차단</a:t>
              </a:r>
              <a:endParaRPr lang="en-US" altLang="ko-KR" sz="1100" dirty="0" smtClean="0">
                <a:solidFill>
                  <a:schemeClr val="bg1"/>
                </a:solidFill>
                <a:ea typeface="맑은 고딕" pitchFamily="50" charset="-127"/>
              </a:endParaRPr>
            </a:p>
            <a:p>
              <a:r>
                <a:rPr lang="en-US" altLang="ko-KR" sz="1100" dirty="0" smtClean="0">
                  <a:solidFill>
                    <a:srgbClr val="FFFFFF"/>
                  </a:solidFill>
                </a:rPr>
                <a:t>     </a:t>
              </a:r>
              <a:r>
                <a:rPr lang="en-US" altLang="ko-KR" sz="1100" dirty="0" err="1" smtClean="0">
                  <a:solidFill>
                    <a:srgbClr val="FFFFFF"/>
                  </a:solidFill>
                </a:rPr>
                <a:t>이상</a:t>
              </a:r>
              <a:r>
                <a:rPr lang="en-US" altLang="ko-KR" sz="1100" dirty="0" smtClean="0">
                  <a:solidFill>
                    <a:srgbClr val="FFFFFF"/>
                  </a:solidFill>
                </a:rPr>
                <a:t>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발생</a:t>
              </a:r>
              <a:r>
                <a:rPr lang="en-US" altLang="ko-KR" sz="1100" dirty="0">
                  <a:solidFill>
                    <a:srgbClr val="FFFFFF"/>
                  </a:solidFill>
                </a:rPr>
                <a:t> 시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충전</a:t>
              </a:r>
              <a:r>
                <a:rPr lang="en-US" altLang="ko-KR" sz="1100" dirty="0">
                  <a:solidFill>
                    <a:srgbClr val="FFFFFF"/>
                  </a:solidFill>
                </a:rPr>
                <a:t>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자동</a:t>
              </a:r>
              <a:r>
                <a:rPr lang="en-US" altLang="ko-KR" sz="1100" dirty="0">
                  <a:solidFill>
                    <a:srgbClr val="FFFFFF"/>
                  </a:solidFill>
                </a:rPr>
                <a:t>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중단</a:t>
              </a:r>
              <a:r>
                <a:rPr lang="en-US" altLang="ko-KR" sz="1100" dirty="0">
                  <a:solidFill>
                    <a:srgbClr val="FFFFFF"/>
                  </a:solidFill>
                </a:rPr>
                <a:t> 및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관리자</a:t>
              </a:r>
              <a:r>
                <a:rPr lang="en-US" altLang="ko-KR" sz="1100" dirty="0">
                  <a:solidFill>
                    <a:srgbClr val="FFFFFF"/>
                  </a:solidFill>
                </a:rPr>
                <a:t>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알림</a:t>
              </a:r>
              <a:r>
                <a:rPr lang="en-US" altLang="ko-KR" sz="1100" dirty="0">
                  <a:solidFill>
                    <a:srgbClr val="FFFFFF"/>
                  </a:solidFill>
                </a:rPr>
                <a:t>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발송</a:t>
              </a:r>
              <a:endParaRPr lang="en-US" altLang="ko-KR" sz="1100" dirty="0"/>
            </a:p>
            <a:p>
              <a:endParaRPr lang="en-US" altLang="ko-KR" sz="1100" dirty="0">
                <a:solidFill>
                  <a:schemeClr val="bg1"/>
                </a:solidFill>
                <a:ea typeface="맑은 고딕" pitchFamily="50" charset="-127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403381" y="4115274"/>
              <a:ext cx="3731619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smtClean="0">
                  <a:solidFill>
                    <a:schemeClr val="bg1"/>
                  </a:solidFill>
                  <a:ea typeface="맑은 고딕" pitchFamily="50" charset="-127"/>
                </a:rPr>
                <a:t>앱 원격 모니터링</a:t>
              </a:r>
              <a:endParaRPr lang="en-US" altLang="ko-KR" sz="1100" dirty="0" smtClean="0">
                <a:solidFill>
                  <a:schemeClr val="bg1"/>
                </a:solidFill>
                <a:ea typeface="맑은 고딕" pitchFamily="50" charset="-127"/>
              </a:endParaRPr>
            </a:p>
            <a:p>
              <a:r>
                <a:rPr lang="en-US" altLang="ko-KR" sz="1100" dirty="0">
                  <a:solidFill>
                    <a:schemeClr val="bg1"/>
                  </a:solidFill>
                  <a:ea typeface="맑은 고딕" pitchFamily="50" charset="-127"/>
                </a:rPr>
                <a:t> </a:t>
              </a:r>
              <a:r>
                <a:rPr lang="en-US" altLang="ko-KR" sz="1100" dirty="0" smtClean="0">
                  <a:solidFill>
                    <a:schemeClr val="bg1"/>
                  </a:solidFill>
                  <a:ea typeface="맑은 고딕" pitchFamily="50" charset="-127"/>
                </a:rPr>
                <a:t>    </a:t>
              </a:r>
              <a:r>
                <a:rPr lang="en-US" altLang="ko-KR" sz="1100" dirty="0" err="1" smtClean="0">
                  <a:solidFill>
                    <a:srgbClr val="FFFFFF"/>
                  </a:solidFill>
                </a:rPr>
                <a:t>스마트폰</a:t>
              </a:r>
              <a:r>
                <a:rPr lang="en-US" altLang="ko-KR" sz="1100" dirty="0" smtClean="0">
                  <a:solidFill>
                    <a:srgbClr val="FFFFFF"/>
                  </a:solidFill>
                </a:rPr>
                <a:t>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앱으로</a:t>
              </a:r>
              <a:r>
                <a:rPr lang="en-US" altLang="ko-KR" sz="1100" dirty="0">
                  <a:solidFill>
                    <a:srgbClr val="FFFFFF"/>
                  </a:solidFill>
                </a:rPr>
                <a:t>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충전</a:t>
              </a:r>
              <a:r>
                <a:rPr lang="en-US" altLang="ko-KR" sz="1100" dirty="0">
                  <a:solidFill>
                    <a:srgbClr val="FFFFFF"/>
                  </a:solidFill>
                </a:rPr>
                <a:t>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상태</a:t>
              </a:r>
              <a:r>
                <a:rPr lang="en-US" altLang="ko-KR" sz="1100" dirty="0">
                  <a:solidFill>
                    <a:srgbClr val="FFFFFF"/>
                  </a:solidFill>
                </a:rPr>
                <a:t> 및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안전</a:t>
              </a:r>
              <a:r>
                <a:rPr lang="en-US" altLang="ko-KR" sz="1100" dirty="0">
                  <a:solidFill>
                    <a:srgbClr val="FFFFFF"/>
                  </a:solidFill>
                </a:rPr>
                <a:t>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현황</a:t>
              </a:r>
              <a:r>
                <a:rPr lang="en-US" altLang="ko-KR" sz="1100" dirty="0">
                  <a:solidFill>
                    <a:srgbClr val="FFFFFF"/>
                  </a:solidFill>
                </a:rPr>
                <a:t>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실시간</a:t>
              </a:r>
              <a:r>
                <a:rPr lang="en-US" altLang="ko-KR" sz="1100" dirty="0">
                  <a:solidFill>
                    <a:srgbClr val="FFFFFF"/>
                  </a:solidFill>
                </a:rPr>
                <a:t> </a:t>
              </a:r>
              <a:r>
                <a:rPr lang="en-US" altLang="ko-KR" sz="1100" dirty="0" err="1" smtClean="0">
                  <a:solidFill>
                    <a:srgbClr val="FFFFFF"/>
                  </a:solidFill>
                </a:rPr>
                <a:t>확인</a:t>
              </a:r>
              <a:endParaRPr lang="en-US" altLang="ko-KR" sz="1100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467437" y="4976802"/>
              <a:ext cx="3866875" cy="68480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100" b="1" dirty="0" err="1">
                  <a:solidFill>
                    <a:srgbClr val="00FFD0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화재</a:t>
              </a:r>
              <a:r>
                <a:rPr lang="en-US" altLang="ko-KR" sz="1100" b="1" dirty="0">
                  <a:solidFill>
                    <a:srgbClr val="00FFD0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</a:t>
              </a:r>
              <a:r>
                <a:rPr lang="en-US" altLang="ko-KR" sz="1100" b="1" dirty="0" err="1">
                  <a:solidFill>
                    <a:srgbClr val="00FFD0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예방</a:t>
              </a:r>
              <a:r>
                <a:rPr lang="en-US" altLang="ko-KR" sz="1100" b="1" dirty="0">
                  <a:solidFill>
                    <a:srgbClr val="00FFD0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</a:t>
              </a:r>
              <a:r>
                <a:rPr lang="en-US" altLang="ko-KR" sz="1100" b="1" dirty="0" err="1">
                  <a:solidFill>
                    <a:srgbClr val="00FFD0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인증</a:t>
              </a:r>
              <a:endParaRPr lang="en-US" altLang="ko-KR" sz="1100" dirty="0"/>
            </a:p>
            <a:p>
              <a:r>
                <a:rPr lang="en-US" altLang="ko-KR" sz="1100" dirty="0" smtClean="0">
                  <a:solidFill>
                    <a:srgbClr val="FFFFFF"/>
                  </a:solidFill>
                </a:rPr>
                <a:t>      </a:t>
              </a:r>
              <a:r>
                <a:rPr lang="en-US" altLang="ko-KR" sz="1100" dirty="0" err="1" smtClean="0">
                  <a:solidFill>
                    <a:srgbClr val="FFFFFF"/>
                  </a:solidFill>
                </a:rPr>
                <a:t>KC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전기안전</a:t>
              </a:r>
              <a:r>
                <a:rPr lang="en-US" altLang="ko-KR" sz="1100" dirty="0">
                  <a:solidFill>
                    <a:srgbClr val="FFFFFF"/>
                  </a:solidFill>
                </a:rPr>
                <a:t> 및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형식</a:t>
              </a:r>
              <a:r>
                <a:rPr lang="en-US" altLang="ko-KR" sz="1100" dirty="0">
                  <a:solidFill>
                    <a:srgbClr val="FFFFFF"/>
                  </a:solidFill>
                </a:rPr>
                <a:t>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승인</a:t>
              </a:r>
              <a:r>
                <a:rPr lang="en-US" altLang="ko-KR" sz="1100" dirty="0">
                  <a:solidFill>
                    <a:srgbClr val="FFFFFF"/>
                  </a:solidFill>
                </a:rPr>
                <a:t>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취득</a:t>
              </a:r>
              <a:r>
                <a:rPr lang="en-US" altLang="ko-KR" sz="1100" dirty="0">
                  <a:solidFill>
                    <a:srgbClr val="FFFFFF"/>
                  </a:solidFill>
                </a:rPr>
                <a:t>,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대기전력</a:t>
              </a:r>
              <a:r>
                <a:rPr lang="en-US" altLang="ko-KR" sz="1100" dirty="0">
                  <a:solidFill>
                    <a:srgbClr val="FFFFFF"/>
                  </a:solidFill>
                </a:rPr>
                <a:t> 3.5W </a:t>
              </a:r>
              <a:r>
                <a:rPr lang="en-US" altLang="ko-KR" sz="1100" dirty="0" err="1">
                  <a:solidFill>
                    <a:srgbClr val="FFFFFF"/>
                  </a:solidFill>
                </a:rPr>
                <a:t>이하</a:t>
              </a:r>
              <a:endParaRPr lang="en-US" altLang="ko-KR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ko-KR" sz="1100" dirty="0">
                <a:solidFill>
                  <a:schemeClr val="bg1"/>
                </a:solidFill>
                <a:ea typeface="맑은 고딕" pitchFamily="50" charset="-127"/>
              </a:endParaRPr>
            </a:p>
          </p:txBody>
        </p:sp>
        <p:sp>
          <p:nvSpPr>
            <p:cNvPr id="22" name="Text 2"/>
            <p:cNvSpPr/>
            <p:nvPr/>
          </p:nvSpPr>
          <p:spPr>
            <a:xfrm>
              <a:off x="1216593" y="1328079"/>
              <a:ext cx="5591175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A89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"알뜰차저 Premium — 전기차 화재로부터 입주민을 지킵니다"</a:t>
              </a:r>
              <a:endParaRPr lang="en-US" sz="1200" b="1" dirty="0"/>
            </a:p>
          </p:txBody>
        </p:sp>
        <p:sp>
          <p:nvSpPr>
            <p:cNvPr id="3" name="직사각형 2"/>
            <p:cNvSpPr/>
            <p:nvPr/>
          </p:nvSpPr>
          <p:spPr>
            <a:xfrm>
              <a:off x="1216593" y="712333"/>
              <a:ext cx="990305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2000" dirty="0">
                  <a:solidFill>
                    <a:schemeClr val="bg1"/>
                  </a:solidFill>
                </a:rPr>
                <a:t>"</a:t>
              </a:r>
              <a:r>
                <a:rPr lang="ko-KR" altLang="en-US" sz="2000" dirty="0" err="1">
                  <a:solidFill>
                    <a:schemeClr val="bg1"/>
                  </a:solidFill>
                </a:rPr>
                <a:t>충전요금</a:t>
              </a:r>
              <a:r>
                <a:rPr lang="en-US" altLang="ko-KR" sz="2000" dirty="0">
                  <a:solidFill>
                    <a:schemeClr val="bg1"/>
                  </a:solidFill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</a:rPr>
                <a:t>충전 편의성</a:t>
              </a:r>
              <a:r>
                <a:rPr lang="en-US" altLang="ko-KR" sz="2000" dirty="0">
                  <a:solidFill>
                    <a:schemeClr val="bg1"/>
                  </a:solidFill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</a:rPr>
                <a:t>화재 안전성은 전기차 시대의 새로운 아파트 평가 기준입니다</a:t>
              </a:r>
              <a:r>
                <a:rPr lang="en-US" altLang="ko-KR" sz="2000" dirty="0">
                  <a:solidFill>
                    <a:schemeClr val="bg1"/>
                  </a:solidFill>
                </a:rPr>
                <a:t>."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53307" y="4108674"/>
              <a:ext cx="4899746" cy="1858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928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3" r="171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 1"/>
          <p:cNvSpPr/>
          <p:nvPr/>
        </p:nvSpPr>
        <p:spPr>
          <a:xfrm>
            <a:off x="572993" y="281039"/>
            <a:ext cx="41333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알뜰차저 7kW 완속 충전기</a:t>
            </a:r>
            <a:endParaRPr lang="en-US" sz="2200" dirty="0"/>
          </a:p>
        </p:txBody>
      </p:sp>
      <p:grpSp>
        <p:nvGrpSpPr>
          <p:cNvPr id="79" name="그룹 78"/>
          <p:cNvGrpSpPr/>
          <p:nvPr/>
        </p:nvGrpSpPr>
        <p:grpSpPr>
          <a:xfrm>
            <a:off x="572993" y="1583499"/>
            <a:ext cx="3970962" cy="2431333"/>
            <a:chOff x="3840480" y="1600200"/>
            <a:chExt cx="5029200" cy="3282696"/>
          </a:xfrm>
        </p:grpSpPr>
        <p:sp>
          <p:nvSpPr>
            <p:cNvPr id="80" name="Shape 33"/>
            <p:cNvSpPr/>
            <p:nvPr/>
          </p:nvSpPr>
          <p:spPr>
            <a:xfrm>
              <a:off x="3840480" y="3657600"/>
              <a:ext cx="5029200" cy="402336"/>
            </a:xfrm>
            <a:prstGeom prst="rect">
              <a:avLst/>
            </a:prstGeom>
            <a:solidFill>
              <a:srgbClr val="EEF4FA"/>
            </a:solidFill>
            <a:ln w="12700">
              <a:solidFill>
                <a:srgbClr val="D0E4F5"/>
              </a:solidFill>
              <a:prstDash val="solid"/>
            </a:ln>
          </p:spPr>
        </p:sp>
        <p:grpSp>
          <p:nvGrpSpPr>
            <p:cNvPr id="81" name="그룹 80"/>
            <p:cNvGrpSpPr/>
            <p:nvPr/>
          </p:nvGrpSpPr>
          <p:grpSpPr>
            <a:xfrm>
              <a:off x="3840480" y="1600200"/>
              <a:ext cx="5029200" cy="3282696"/>
              <a:chOff x="3840480" y="1600200"/>
              <a:chExt cx="5029200" cy="3282696"/>
            </a:xfrm>
          </p:grpSpPr>
          <p:sp>
            <p:nvSpPr>
              <p:cNvPr id="82" name="Shape 18"/>
              <p:cNvSpPr/>
              <p:nvPr/>
            </p:nvSpPr>
            <p:spPr>
              <a:xfrm>
                <a:off x="3840480" y="1600200"/>
                <a:ext cx="5029200" cy="40233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0E4F5"/>
                </a:solidFill>
                <a:prstDash val="solid"/>
              </a:ln>
            </p:spPr>
          </p:sp>
          <p:sp>
            <p:nvSpPr>
              <p:cNvPr id="83" name="Text 19"/>
              <p:cNvSpPr/>
              <p:nvPr/>
            </p:nvSpPr>
            <p:spPr>
              <a:xfrm>
                <a:off x="3931920" y="1645920"/>
                <a:ext cx="128016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00A896"/>
                    </a:solidFill>
                  </a:rPr>
                  <a:t>정격용량</a:t>
                </a:r>
                <a:endParaRPr lang="en-US" sz="1000" dirty="0"/>
              </a:p>
            </p:txBody>
          </p:sp>
          <p:sp>
            <p:nvSpPr>
              <p:cNvPr id="84" name="Text 20"/>
              <p:cNvSpPr/>
              <p:nvPr/>
            </p:nvSpPr>
            <p:spPr>
              <a:xfrm>
                <a:off x="5257800" y="1645920"/>
                <a:ext cx="347472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1A2332"/>
                    </a:solidFill>
                  </a:rPr>
                  <a:t>단상 220V / 60Hz / 50A</a:t>
                </a:r>
                <a:endParaRPr lang="en-US" sz="1000" dirty="0"/>
              </a:p>
            </p:txBody>
          </p:sp>
          <p:sp>
            <p:nvSpPr>
              <p:cNvPr id="85" name="Shape 21"/>
              <p:cNvSpPr/>
              <p:nvPr/>
            </p:nvSpPr>
            <p:spPr>
              <a:xfrm>
                <a:off x="3840480" y="2011680"/>
                <a:ext cx="5029200" cy="402336"/>
              </a:xfrm>
              <a:prstGeom prst="rect">
                <a:avLst/>
              </a:prstGeom>
              <a:solidFill>
                <a:srgbClr val="EEF4FA"/>
              </a:solidFill>
              <a:ln w="12700">
                <a:solidFill>
                  <a:srgbClr val="D0E4F5"/>
                </a:solidFill>
                <a:prstDash val="solid"/>
              </a:ln>
            </p:spPr>
          </p:sp>
          <p:sp>
            <p:nvSpPr>
              <p:cNvPr id="86" name="Text 22"/>
              <p:cNvSpPr/>
              <p:nvPr/>
            </p:nvSpPr>
            <p:spPr>
              <a:xfrm>
                <a:off x="3931920" y="2057400"/>
                <a:ext cx="128016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00A896"/>
                    </a:solidFill>
                  </a:rPr>
                  <a:t>정격출력</a:t>
                </a:r>
                <a:endParaRPr lang="en-US" sz="1000" dirty="0"/>
              </a:p>
            </p:txBody>
          </p:sp>
          <p:sp>
            <p:nvSpPr>
              <p:cNvPr id="87" name="Text 23"/>
              <p:cNvSpPr/>
              <p:nvPr/>
            </p:nvSpPr>
            <p:spPr>
              <a:xfrm>
                <a:off x="5257800" y="2057400"/>
                <a:ext cx="347472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1A2332"/>
                    </a:solidFill>
                  </a:rPr>
                  <a:t>220V / 24.5~50A / 5.4kW~11kW</a:t>
                </a:r>
                <a:endParaRPr lang="en-US" sz="1000" dirty="0"/>
              </a:p>
            </p:txBody>
          </p:sp>
          <p:sp>
            <p:nvSpPr>
              <p:cNvPr id="88" name="Shape 24"/>
              <p:cNvSpPr/>
              <p:nvPr/>
            </p:nvSpPr>
            <p:spPr>
              <a:xfrm>
                <a:off x="3840480" y="2423160"/>
                <a:ext cx="5029200" cy="40233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0E4F5"/>
                </a:solidFill>
                <a:prstDash val="solid"/>
              </a:ln>
            </p:spPr>
          </p:sp>
          <p:sp>
            <p:nvSpPr>
              <p:cNvPr id="89" name="Text 25"/>
              <p:cNvSpPr/>
              <p:nvPr/>
            </p:nvSpPr>
            <p:spPr>
              <a:xfrm>
                <a:off x="3931920" y="2468880"/>
                <a:ext cx="128016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00A896"/>
                    </a:solidFill>
                  </a:rPr>
                  <a:t>제품크기</a:t>
                </a:r>
                <a:endParaRPr lang="en-US" sz="1000" dirty="0"/>
              </a:p>
            </p:txBody>
          </p:sp>
          <p:sp>
            <p:nvSpPr>
              <p:cNvPr id="90" name="Text 26"/>
              <p:cNvSpPr/>
              <p:nvPr/>
            </p:nvSpPr>
            <p:spPr>
              <a:xfrm>
                <a:off x="5257800" y="2468880"/>
                <a:ext cx="347472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1A2332"/>
                    </a:solidFill>
                  </a:rPr>
                  <a:t>180(W) × 150(D) × 300(H)mm</a:t>
                </a:r>
                <a:endParaRPr lang="en-US" sz="1000" dirty="0"/>
              </a:p>
            </p:txBody>
          </p:sp>
          <p:sp>
            <p:nvSpPr>
              <p:cNvPr id="91" name="Shape 27"/>
              <p:cNvSpPr/>
              <p:nvPr/>
            </p:nvSpPr>
            <p:spPr>
              <a:xfrm>
                <a:off x="3840480" y="2834640"/>
                <a:ext cx="5029200" cy="402336"/>
              </a:xfrm>
              <a:prstGeom prst="rect">
                <a:avLst/>
              </a:prstGeom>
              <a:solidFill>
                <a:srgbClr val="EEF4FA"/>
              </a:solidFill>
              <a:ln w="12700">
                <a:solidFill>
                  <a:srgbClr val="D0E4F5"/>
                </a:solidFill>
                <a:prstDash val="solid"/>
              </a:ln>
            </p:spPr>
          </p:sp>
          <p:sp>
            <p:nvSpPr>
              <p:cNvPr id="92" name="Text 28"/>
              <p:cNvSpPr/>
              <p:nvPr/>
            </p:nvSpPr>
            <p:spPr>
              <a:xfrm>
                <a:off x="3931920" y="2880360"/>
                <a:ext cx="128016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00A896"/>
                    </a:solidFill>
                  </a:rPr>
                  <a:t>케이블길이</a:t>
                </a:r>
                <a:endParaRPr lang="en-US" sz="1000" dirty="0"/>
              </a:p>
            </p:txBody>
          </p:sp>
          <p:sp>
            <p:nvSpPr>
              <p:cNvPr id="93" name="Text 29"/>
              <p:cNvSpPr/>
              <p:nvPr/>
            </p:nvSpPr>
            <p:spPr>
              <a:xfrm>
                <a:off x="5257800" y="2880360"/>
                <a:ext cx="347472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1A2332"/>
                    </a:solidFill>
                  </a:rPr>
                  <a:t>5m</a:t>
                </a:r>
                <a:endParaRPr lang="en-US" sz="1000" dirty="0"/>
              </a:p>
            </p:txBody>
          </p:sp>
          <p:sp>
            <p:nvSpPr>
              <p:cNvPr id="94" name="Shape 30"/>
              <p:cNvSpPr/>
              <p:nvPr/>
            </p:nvSpPr>
            <p:spPr>
              <a:xfrm>
                <a:off x="3840480" y="3246120"/>
                <a:ext cx="5029200" cy="40233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0E4F5"/>
                </a:solidFill>
                <a:prstDash val="solid"/>
              </a:ln>
            </p:spPr>
          </p:sp>
          <p:sp>
            <p:nvSpPr>
              <p:cNvPr id="95" name="Text 31"/>
              <p:cNvSpPr/>
              <p:nvPr/>
            </p:nvSpPr>
            <p:spPr>
              <a:xfrm>
                <a:off x="3931920" y="3291840"/>
                <a:ext cx="128016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00A896"/>
                    </a:solidFill>
                  </a:rPr>
                  <a:t>플러그규격</a:t>
                </a:r>
                <a:endParaRPr lang="en-US" sz="1000" dirty="0"/>
              </a:p>
            </p:txBody>
          </p:sp>
          <p:sp>
            <p:nvSpPr>
              <p:cNvPr id="96" name="Text 32"/>
              <p:cNvSpPr/>
              <p:nvPr/>
            </p:nvSpPr>
            <p:spPr>
              <a:xfrm>
                <a:off x="5257800" y="3291840"/>
                <a:ext cx="347472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1A2332"/>
                    </a:solidFill>
                  </a:rPr>
                  <a:t>J1772 (AC단상, 5핀)</a:t>
                </a:r>
                <a:endParaRPr lang="en-US" sz="1000" dirty="0"/>
              </a:p>
            </p:txBody>
          </p:sp>
          <p:sp>
            <p:nvSpPr>
              <p:cNvPr id="97" name="Text 34"/>
              <p:cNvSpPr/>
              <p:nvPr/>
            </p:nvSpPr>
            <p:spPr>
              <a:xfrm>
                <a:off x="3931920" y="3703320"/>
                <a:ext cx="128016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00A896"/>
                    </a:solidFill>
                  </a:rPr>
                  <a:t>안전기능</a:t>
                </a:r>
                <a:endParaRPr lang="en-US" sz="1000" dirty="0"/>
              </a:p>
            </p:txBody>
          </p:sp>
          <p:sp>
            <p:nvSpPr>
              <p:cNvPr id="98" name="Text 35"/>
              <p:cNvSpPr/>
              <p:nvPr/>
            </p:nvSpPr>
            <p:spPr>
              <a:xfrm>
                <a:off x="5257800" y="3703320"/>
                <a:ext cx="347472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1A2332"/>
                    </a:solidFill>
                  </a:rPr>
                  <a:t>화재예방, 누전보호, 과전압/저전압/과전류 차단</a:t>
                </a:r>
                <a:endParaRPr lang="en-US" sz="1000" dirty="0"/>
              </a:p>
            </p:txBody>
          </p:sp>
          <p:sp>
            <p:nvSpPr>
              <p:cNvPr id="99" name="Shape 36"/>
              <p:cNvSpPr/>
              <p:nvPr/>
            </p:nvSpPr>
            <p:spPr>
              <a:xfrm>
                <a:off x="3840480" y="4069080"/>
                <a:ext cx="5029200" cy="40233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0E4F5"/>
                </a:solidFill>
                <a:prstDash val="solid"/>
              </a:ln>
            </p:spPr>
          </p:sp>
          <p:sp>
            <p:nvSpPr>
              <p:cNvPr id="100" name="Text 37"/>
              <p:cNvSpPr/>
              <p:nvPr/>
            </p:nvSpPr>
            <p:spPr>
              <a:xfrm>
                <a:off x="3931920" y="4114800"/>
                <a:ext cx="128016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00A896"/>
                    </a:solidFill>
                  </a:rPr>
                  <a:t>설치방식</a:t>
                </a:r>
                <a:endParaRPr lang="en-US" sz="1000" dirty="0"/>
              </a:p>
            </p:txBody>
          </p:sp>
          <p:sp>
            <p:nvSpPr>
              <p:cNvPr id="101" name="Text 38"/>
              <p:cNvSpPr/>
              <p:nvPr/>
            </p:nvSpPr>
            <p:spPr>
              <a:xfrm>
                <a:off x="5257800" y="4114800"/>
                <a:ext cx="347472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1A2332"/>
                    </a:solidFill>
                  </a:rPr>
                  <a:t>벽부착형 / 스탠드형</a:t>
                </a:r>
                <a:endParaRPr lang="en-US" sz="1000" dirty="0"/>
              </a:p>
            </p:txBody>
          </p:sp>
          <p:sp>
            <p:nvSpPr>
              <p:cNvPr id="102" name="Shape 39"/>
              <p:cNvSpPr/>
              <p:nvPr/>
            </p:nvSpPr>
            <p:spPr>
              <a:xfrm>
                <a:off x="3840480" y="4480560"/>
                <a:ext cx="5029200" cy="402336"/>
              </a:xfrm>
              <a:prstGeom prst="rect">
                <a:avLst/>
              </a:prstGeom>
              <a:solidFill>
                <a:srgbClr val="EEF4FA"/>
              </a:solidFill>
              <a:ln w="12700">
                <a:solidFill>
                  <a:srgbClr val="D0E4F5"/>
                </a:solidFill>
                <a:prstDash val="solid"/>
              </a:ln>
            </p:spPr>
          </p:sp>
          <p:sp>
            <p:nvSpPr>
              <p:cNvPr id="103" name="Text 40"/>
              <p:cNvSpPr/>
              <p:nvPr/>
            </p:nvSpPr>
            <p:spPr>
              <a:xfrm>
                <a:off x="3931920" y="4526280"/>
                <a:ext cx="128016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00A896"/>
                    </a:solidFill>
                  </a:rPr>
                  <a:t>결제방식</a:t>
                </a:r>
                <a:endParaRPr lang="en-US" sz="1000" dirty="0"/>
              </a:p>
            </p:txBody>
          </p:sp>
          <p:sp>
            <p:nvSpPr>
              <p:cNvPr id="104" name="Text 41"/>
              <p:cNvSpPr/>
              <p:nvPr/>
            </p:nvSpPr>
            <p:spPr>
              <a:xfrm>
                <a:off x="5257800" y="4526280"/>
                <a:ext cx="347472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1A2332"/>
                    </a:solidFill>
                  </a:rPr>
                  <a:t>QR코드 / RF카드</a:t>
                </a:r>
                <a:endParaRPr lang="en-US" sz="1000" dirty="0"/>
              </a:p>
            </p:txBody>
          </p:sp>
        </p:grpSp>
      </p:grpSp>
      <p:sp>
        <p:nvSpPr>
          <p:cNvPr id="105" name="Text 17"/>
          <p:cNvSpPr/>
          <p:nvPr/>
        </p:nvSpPr>
        <p:spPr>
          <a:xfrm>
            <a:off x="572993" y="1134001"/>
            <a:ext cx="39709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제품 사양</a:t>
            </a:r>
            <a:endParaRPr lang="en-US" sz="1500" dirty="0">
              <a:solidFill>
                <a:schemeClr val="bg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8803176" y="3514014"/>
            <a:ext cx="2882265" cy="2886049"/>
            <a:chOff x="8836428" y="3447510"/>
            <a:chExt cx="2882265" cy="2886049"/>
          </a:xfrm>
        </p:grpSpPr>
        <p:grpSp>
          <p:nvGrpSpPr>
            <p:cNvPr id="8" name="그룹 7"/>
            <p:cNvGrpSpPr/>
            <p:nvPr/>
          </p:nvGrpSpPr>
          <p:grpSpPr>
            <a:xfrm>
              <a:off x="8836428" y="3447510"/>
              <a:ext cx="2882265" cy="2886049"/>
              <a:chOff x="592228" y="1571651"/>
              <a:chExt cx="2882265" cy="2886049"/>
            </a:xfrm>
          </p:grpSpPr>
          <p:sp>
            <p:nvSpPr>
              <p:cNvPr id="20" name="TextBox 19">
                <a:extLst>
                  <a:ext uri="{FF2B5EF4-FFF2-40B4-BE49-F238E27FC236}">
                    <a16:creationId xmlns="" xmlns:a16="http://schemas.microsoft.com/office/drawing/2014/main" id="{918B6202-536B-254E-8B68-234A963F1197}"/>
                  </a:ext>
                </a:extLst>
              </p:cNvPr>
              <p:cNvSpPr txBox="1"/>
              <p:nvPr/>
            </p:nvSpPr>
            <p:spPr>
              <a:xfrm>
                <a:off x="592228" y="1571651"/>
                <a:ext cx="2880360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kumimoji="1" lang="ko-KR" altLang="en-US" b="1" dirty="0" err="1" smtClean="0">
                    <a:solidFill>
                      <a:schemeClr val="accent1"/>
                    </a:solidFill>
                    <a:latin typeface="+mj-lt"/>
                  </a:rPr>
                  <a:t>알뜰차저</a:t>
                </a:r>
                <a:r>
                  <a:rPr kumimoji="1" lang="ko-KR" altLang="en-US" b="1" dirty="0" smtClean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kumimoji="1" lang="en-US" altLang="ko-KR" b="1" dirty="0" smtClean="0">
                    <a:solidFill>
                      <a:schemeClr val="accent1"/>
                    </a:solidFill>
                    <a:latin typeface="+mj-lt"/>
                  </a:rPr>
                  <a:t>7KW</a:t>
                </a:r>
                <a:endParaRPr kumimoji="1" lang="x-none" altLang="en-US" b="1" dirty="0">
                  <a:solidFill>
                    <a:schemeClr val="accent1"/>
                  </a:solidFill>
                  <a:latin typeface="+mj-lt"/>
                </a:endParaRPr>
              </a:p>
            </p:txBody>
          </p:sp>
          <p:grpSp>
            <p:nvGrpSpPr>
              <p:cNvPr id="2" name="그룹 1"/>
              <p:cNvGrpSpPr/>
              <p:nvPr/>
            </p:nvGrpSpPr>
            <p:grpSpPr>
              <a:xfrm>
                <a:off x="592228" y="2034540"/>
                <a:ext cx="2882265" cy="2423160"/>
                <a:chOff x="411480" y="1691640"/>
                <a:chExt cx="2882265" cy="2423160"/>
              </a:xfrm>
            </p:grpSpPr>
            <p:sp>
              <p:nvSpPr>
                <p:cNvPr id="16" name="Shape 5"/>
                <p:cNvSpPr/>
                <p:nvPr/>
              </p:nvSpPr>
              <p:spPr>
                <a:xfrm>
                  <a:off x="411480" y="1691640"/>
                  <a:ext cx="1417320" cy="6858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BCD4"/>
                  </a:solidFill>
                  <a:prstDash val="solid"/>
                </a:ln>
                <a:effectLst>
                  <a:outerShdw blurRad="101600" dist="38100" dir="810000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anchor="ctr"/>
                <a:lstStyle/>
                <a:p>
                  <a:pPr algn="ctr"/>
                  <a:r>
                    <a:rPr lang="en-US" altLang="ko-KR" sz="1600" b="1" dirty="0">
                      <a:solidFill>
                        <a:srgbClr val="1B4F8A"/>
                      </a:solidFill>
                    </a:rPr>
                    <a:t>AC </a:t>
                  </a:r>
                  <a:r>
                    <a:rPr lang="en-US" altLang="ko-KR" sz="1600" b="1" dirty="0" smtClean="0">
                      <a:solidFill>
                        <a:srgbClr val="1B4F8A"/>
                      </a:solidFill>
                    </a:rPr>
                    <a:t>220V</a:t>
                  </a:r>
                  <a:endParaRPr lang="en-US" altLang="ko-KR" sz="1600" dirty="0"/>
                </a:p>
              </p:txBody>
            </p:sp>
            <p:sp>
              <p:nvSpPr>
                <p:cNvPr id="17" name="Shape 7"/>
                <p:cNvSpPr/>
                <p:nvPr/>
              </p:nvSpPr>
              <p:spPr>
                <a:xfrm>
                  <a:off x="1876425" y="2564554"/>
                  <a:ext cx="1417320" cy="6858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BCD4"/>
                  </a:solidFill>
                  <a:prstDash val="solid"/>
                </a:ln>
                <a:effectLst>
                  <a:outerShdw blurRad="101600" dist="38100" dir="810000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anchor="ctr"/>
                <a:lstStyle/>
                <a:p>
                  <a:pPr algn="ctr"/>
                  <a:r>
                    <a:rPr lang="en-US" altLang="ko-KR" sz="1600" b="1" dirty="0" smtClean="0">
                      <a:solidFill>
                        <a:srgbClr val="1B4F8A"/>
                      </a:solidFill>
                    </a:rPr>
                    <a:t>NFC</a:t>
                  </a:r>
                  <a:r>
                    <a:rPr lang="ko-KR" altLang="en-US" sz="1600" b="1" dirty="0" smtClean="0">
                      <a:solidFill>
                        <a:srgbClr val="1B4F8A"/>
                      </a:solidFill>
                    </a:rPr>
                    <a:t>결제</a:t>
                  </a:r>
                  <a:endParaRPr lang="en-US" altLang="ko-KR" sz="1600" dirty="0"/>
                </a:p>
              </p:txBody>
            </p:sp>
            <p:sp>
              <p:nvSpPr>
                <p:cNvPr id="18" name="Text 10"/>
                <p:cNvSpPr/>
                <p:nvPr/>
              </p:nvSpPr>
              <p:spPr>
                <a:xfrm>
                  <a:off x="411480" y="2560320"/>
                  <a:ext cx="1417320" cy="685800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1B4F8A"/>
                      </a:solidFill>
                    </a:rPr>
                    <a:t>KC인증</a:t>
                  </a:r>
                  <a:endParaRPr lang="en-US" sz="1600" dirty="0"/>
                </a:p>
              </p:txBody>
            </p:sp>
            <p:sp>
              <p:nvSpPr>
                <p:cNvPr id="27" name="Shape 13"/>
                <p:cNvSpPr/>
                <p:nvPr/>
              </p:nvSpPr>
              <p:spPr>
                <a:xfrm>
                  <a:off x="411480" y="3429000"/>
                  <a:ext cx="1417320" cy="6858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BCD4"/>
                  </a:solidFill>
                  <a:prstDash val="solid"/>
                </a:ln>
                <a:effectLst>
                  <a:outerShdw blurRad="101600" dist="38100" dir="810000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 anchor="ctr"/>
                <a:lstStyle/>
                <a:p>
                  <a:pPr algn="ctr"/>
                  <a:r>
                    <a:rPr lang="ko-KR" altLang="en-US" sz="1600" b="1" dirty="0" smtClean="0">
                      <a:solidFill>
                        <a:srgbClr val="1B4F8A"/>
                      </a:solidFill>
                    </a:rPr>
                    <a:t>화재예방</a:t>
                  </a:r>
                  <a:endParaRPr lang="en-US" altLang="ko-KR" sz="1600" dirty="0"/>
                </a:p>
              </p:txBody>
            </p:sp>
            <p:sp>
              <p:nvSpPr>
                <p:cNvPr id="28" name="Text 16"/>
                <p:cNvSpPr/>
                <p:nvPr/>
              </p:nvSpPr>
              <p:spPr>
                <a:xfrm>
                  <a:off x="1874520" y="3429000"/>
                  <a:ext cx="1417320" cy="685800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1B4F8A"/>
                      </a:solidFill>
                    </a:rPr>
                    <a:t>QR코드</a:t>
                  </a:r>
                  <a:endParaRPr lang="en-US" sz="1600" dirty="0"/>
                </a:p>
              </p:txBody>
            </p:sp>
            <p:sp>
              <p:nvSpPr>
                <p:cNvPr id="30" name="Text 10"/>
                <p:cNvSpPr/>
                <p:nvPr/>
              </p:nvSpPr>
              <p:spPr>
                <a:xfrm>
                  <a:off x="1876425" y="1691640"/>
                  <a:ext cx="1417320" cy="685800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 smtClean="0">
                      <a:solidFill>
                        <a:srgbClr val="1B4F8A"/>
                      </a:solidFill>
                    </a:rPr>
                    <a:t>IP55</a:t>
                  </a:r>
                  <a:r>
                    <a:rPr lang="ko-KR" altLang="en-US" sz="1600" b="1" dirty="0" smtClean="0">
                      <a:solidFill>
                        <a:srgbClr val="1B4F8A"/>
                      </a:solidFill>
                    </a:rPr>
                    <a:t>방수</a:t>
                  </a:r>
                  <a:endParaRPr lang="en-US" sz="1600" dirty="0"/>
                </a:p>
              </p:txBody>
            </p:sp>
          </p:grpSp>
        </p:grpSp>
        <p:sp>
          <p:nvSpPr>
            <p:cNvPr id="40" name="Shape 5"/>
            <p:cNvSpPr/>
            <p:nvPr/>
          </p:nvSpPr>
          <p:spPr>
            <a:xfrm>
              <a:off x="10301373" y="3908040"/>
              <a:ext cx="1417320" cy="685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BCD4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pPr algn="ctr"/>
              <a:r>
                <a:rPr lang="en-US" altLang="ko-KR" sz="1600" b="1" smtClean="0">
                  <a:solidFill>
                    <a:srgbClr val="1B4F8A"/>
                  </a:solidFill>
                </a:rPr>
                <a:t>IP55</a:t>
              </a:r>
              <a:r>
                <a:rPr lang="ko-KR" altLang="en-US" sz="1600" b="1" dirty="0" smtClean="0">
                  <a:solidFill>
                    <a:srgbClr val="1B4F8A"/>
                  </a:solidFill>
                </a:rPr>
                <a:t>방수</a:t>
              </a:r>
              <a:endParaRPr lang="en-US" altLang="ko-KR" sz="1600" dirty="0"/>
            </a:p>
          </p:txBody>
        </p:sp>
        <p:sp>
          <p:nvSpPr>
            <p:cNvPr id="41" name="Shape 5"/>
            <p:cNvSpPr/>
            <p:nvPr/>
          </p:nvSpPr>
          <p:spPr>
            <a:xfrm>
              <a:off x="8838680" y="4783313"/>
              <a:ext cx="1417320" cy="685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BCD4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pPr algn="ctr"/>
              <a:r>
                <a:rPr lang="en-US" altLang="ko-KR" sz="1600" b="1" dirty="0" smtClean="0">
                  <a:solidFill>
                    <a:srgbClr val="1B4F8A"/>
                  </a:solidFill>
                </a:rPr>
                <a:t>KC</a:t>
              </a:r>
              <a:r>
                <a:rPr lang="ko-KR" altLang="en-US" sz="1600" b="1" dirty="0" smtClean="0">
                  <a:solidFill>
                    <a:srgbClr val="1B4F8A"/>
                  </a:solidFill>
                </a:rPr>
                <a:t>인증</a:t>
              </a:r>
              <a:endParaRPr lang="en-US" altLang="ko-KR" sz="1600" dirty="0"/>
            </a:p>
          </p:txBody>
        </p:sp>
        <p:sp>
          <p:nvSpPr>
            <p:cNvPr id="42" name="Shape 5"/>
            <p:cNvSpPr/>
            <p:nvPr/>
          </p:nvSpPr>
          <p:spPr>
            <a:xfrm>
              <a:off x="10301373" y="5647759"/>
              <a:ext cx="1417320" cy="685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BCD4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pPr algn="ctr"/>
              <a:r>
                <a:rPr lang="en-US" altLang="ko-KR" sz="1600" b="1" dirty="0" smtClean="0">
                  <a:solidFill>
                    <a:srgbClr val="1B4F8A"/>
                  </a:solidFill>
                </a:rPr>
                <a:t>QR</a:t>
              </a:r>
              <a:r>
                <a:rPr lang="ko-KR" altLang="en-US" sz="1600" b="1" dirty="0" smtClean="0">
                  <a:solidFill>
                    <a:srgbClr val="1B4F8A"/>
                  </a:solidFill>
                </a:rPr>
                <a:t>코드</a:t>
              </a:r>
              <a:endParaRPr lang="en-US" altLang="ko-KR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1779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개체 틀 5" descr="실내, 컴퓨터, 하얀색, 테이블이(가) 표시된 사진  자동 생성된 설명">
            <a:extLst>
              <a:ext uri="{FF2B5EF4-FFF2-40B4-BE49-F238E27FC236}">
                <a16:creationId xmlns="" xmlns:a16="http://schemas.microsoft.com/office/drawing/2014/main" id="{410FA38E-5ADA-DF40-9736-E12EE19D87D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20557" b="11068"/>
          <a:stretch/>
        </p:blipFill>
        <p:spPr>
          <a:xfrm>
            <a:off x="0" y="2187615"/>
            <a:ext cx="12192000" cy="4670385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6C80FF2-285D-7B4B-9EE0-63B4D7378CE2}"/>
              </a:ext>
            </a:extLst>
          </p:cNvPr>
          <p:cNvSpPr txBox="1"/>
          <p:nvPr/>
        </p:nvSpPr>
        <p:spPr>
          <a:xfrm>
            <a:off x="390113" y="380453"/>
            <a:ext cx="698246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ko-KR" altLang="en-US" sz="3200" b="1" dirty="0">
                <a:solidFill>
                  <a:schemeClr val="accent1"/>
                </a:solidFill>
                <a:latin typeface="+mj-lt"/>
              </a:rPr>
              <a:t>설치 프로세스 </a:t>
            </a:r>
            <a:r>
              <a:rPr kumimoji="1" lang="en-US" altLang="ko-KR" sz="3200" b="1" dirty="0" smtClean="0">
                <a:solidFill>
                  <a:schemeClr val="accent1"/>
                </a:solidFill>
                <a:latin typeface="+mj-lt"/>
              </a:rPr>
              <a:t>- </a:t>
            </a:r>
            <a:r>
              <a:rPr kumimoji="1" lang="ko-KR" altLang="en-US" sz="3200" b="1" dirty="0" smtClean="0">
                <a:solidFill>
                  <a:schemeClr val="accent1"/>
                </a:solidFill>
                <a:latin typeface="+mj-lt"/>
              </a:rPr>
              <a:t>간편하고 </a:t>
            </a:r>
            <a:r>
              <a:rPr kumimoji="1" lang="ko-KR" altLang="en-US" sz="3200" b="1" dirty="0">
                <a:solidFill>
                  <a:schemeClr val="accent1"/>
                </a:solidFill>
                <a:latin typeface="+mj-lt"/>
              </a:rPr>
              <a:t>신속하게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187615"/>
            <a:ext cx="12192000" cy="4670385"/>
          </a:xfrm>
          <a:prstGeom prst="rect">
            <a:avLst/>
          </a:prstGeom>
          <a:solidFill>
            <a:srgbClr val="002060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>
            <a:off x="1979391" y="1661835"/>
            <a:ext cx="8233219" cy="3322172"/>
            <a:chOff x="1874520" y="1661835"/>
            <a:chExt cx="8233219" cy="3322172"/>
          </a:xfrm>
        </p:grpSpPr>
        <p:sp>
          <p:nvSpPr>
            <p:cNvPr id="8" name="Shape 2"/>
            <p:cNvSpPr/>
            <p:nvPr/>
          </p:nvSpPr>
          <p:spPr>
            <a:xfrm>
              <a:off x="2084832" y="1661835"/>
              <a:ext cx="1051560" cy="1051560"/>
            </a:xfrm>
            <a:prstGeom prst="ellipse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0" name="Text 3"/>
            <p:cNvSpPr/>
            <p:nvPr/>
          </p:nvSpPr>
          <p:spPr>
            <a:xfrm>
              <a:off x="2084832" y="1661835"/>
              <a:ext cx="105156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01</a:t>
              </a:r>
              <a:endParaRPr lang="en-US" sz="2200" dirty="0"/>
            </a:p>
          </p:txBody>
        </p:sp>
        <p:sp>
          <p:nvSpPr>
            <p:cNvPr id="11" name="Shape 4"/>
            <p:cNvSpPr/>
            <p:nvPr/>
          </p:nvSpPr>
          <p:spPr>
            <a:xfrm>
              <a:off x="3291840" y="2137323"/>
              <a:ext cx="347472" cy="91440"/>
            </a:xfrm>
            <a:prstGeom prst="rect">
              <a:avLst/>
            </a:prstGeom>
            <a:solidFill>
              <a:srgbClr val="B0BEC5"/>
            </a:solidFill>
            <a:ln w="12700">
              <a:solidFill>
                <a:srgbClr val="B0BEC5"/>
              </a:solidFill>
              <a:prstDash val="solid"/>
            </a:ln>
          </p:spPr>
        </p:sp>
        <p:sp>
          <p:nvSpPr>
            <p:cNvPr id="12" name="Shape 9"/>
            <p:cNvSpPr/>
            <p:nvPr/>
          </p:nvSpPr>
          <p:spPr>
            <a:xfrm>
              <a:off x="3776472" y="1661835"/>
              <a:ext cx="1051560" cy="1051560"/>
            </a:xfrm>
            <a:prstGeom prst="ellipse">
              <a:avLst/>
            </a:prstGeom>
            <a:solidFill>
              <a:srgbClr val="1B4F8A"/>
            </a:solidFill>
            <a:ln w="12700">
              <a:solidFill>
                <a:srgbClr val="1B4F8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3" name="Text 10"/>
            <p:cNvSpPr/>
            <p:nvPr/>
          </p:nvSpPr>
          <p:spPr>
            <a:xfrm>
              <a:off x="3776472" y="1661835"/>
              <a:ext cx="105156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02</a:t>
              </a:r>
              <a:endParaRPr lang="en-US" sz="220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4974336" y="2135712"/>
              <a:ext cx="347472" cy="91440"/>
            </a:xfrm>
            <a:prstGeom prst="rect">
              <a:avLst/>
            </a:prstGeom>
            <a:solidFill>
              <a:srgbClr val="B0BEC5"/>
            </a:solidFill>
            <a:ln w="12700">
              <a:solidFill>
                <a:srgbClr val="B0BEC5"/>
              </a:solidFill>
              <a:prstDash val="solid"/>
            </a:ln>
          </p:spPr>
        </p:sp>
        <p:sp>
          <p:nvSpPr>
            <p:cNvPr id="15" name="Shape 16"/>
            <p:cNvSpPr/>
            <p:nvPr/>
          </p:nvSpPr>
          <p:spPr>
            <a:xfrm>
              <a:off x="5468112" y="1661835"/>
              <a:ext cx="1051560" cy="1051560"/>
            </a:xfrm>
            <a:prstGeom prst="ellipse">
              <a:avLst/>
            </a:prstGeom>
            <a:solidFill>
              <a:srgbClr val="4CAF50"/>
            </a:solidFill>
            <a:ln w="12700">
              <a:solidFill>
                <a:srgbClr val="4CAF5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6" name="Text 17"/>
            <p:cNvSpPr/>
            <p:nvPr/>
          </p:nvSpPr>
          <p:spPr>
            <a:xfrm>
              <a:off x="5468112" y="1661835"/>
              <a:ext cx="105156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03</a:t>
              </a:r>
              <a:endParaRPr lang="en-US" sz="2200" dirty="0"/>
            </a:p>
          </p:txBody>
        </p:sp>
        <p:sp>
          <p:nvSpPr>
            <p:cNvPr id="17" name="Shape 18"/>
            <p:cNvSpPr/>
            <p:nvPr/>
          </p:nvSpPr>
          <p:spPr>
            <a:xfrm>
              <a:off x="6665976" y="2137323"/>
              <a:ext cx="347472" cy="91440"/>
            </a:xfrm>
            <a:prstGeom prst="rect">
              <a:avLst/>
            </a:prstGeom>
            <a:solidFill>
              <a:srgbClr val="B0BEC5"/>
            </a:solidFill>
            <a:ln w="12700">
              <a:solidFill>
                <a:srgbClr val="B0BEC5"/>
              </a:solidFill>
              <a:prstDash val="solid"/>
            </a:ln>
          </p:spPr>
        </p:sp>
        <p:sp>
          <p:nvSpPr>
            <p:cNvPr id="18" name="Shape 23"/>
            <p:cNvSpPr/>
            <p:nvPr/>
          </p:nvSpPr>
          <p:spPr>
            <a:xfrm>
              <a:off x="7159752" y="1661835"/>
              <a:ext cx="1051560" cy="1051560"/>
            </a:xfrm>
            <a:prstGeom prst="ellipse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9" name="Text 24"/>
            <p:cNvSpPr/>
            <p:nvPr/>
          </p:nvSpPr>
          <p:spPr>
            <a:xfrm>
              <a:off x="7159752" y="1661835"/>
              <a:ext cx="105156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04</a:t>
              </a:r>
              <a:endParaRPr lang="en-US" sz="2200" dirty="0"/>
            </a:p>
          </p:txBody>
        </p:sp>
        <p:sp>
          <p:nvSpPr>
            <p:cNvPr id="20" name="Shape 25"/>
            <p:cNvSpPr/>
            <p:nvPr/>
          </p:nvSpPr>
          <p:spPr>
            <a:xfrm>
              <a:off x="8357616" y="2141895"/>
              <a:ext cx="347472" cy="91440"/>
            </a:xfrm>
            <a:prstGeom prst="rect">
              <a:avLst/>
            </a:prstGeom>
            <a:solidFill>
              <a:srgbClr val="B0BEC5"/>
            </a:solidFill>
            <a:ln w="12700">
              <a:solidFill>
                <a:srgbClr val="B0BEC5"/>
              </a:solidFill>
              <a:prstDash val="solid"/>
            </a:ln>
          </p:spPr>
        </p:sp>
        <p:sp>
          <p:nvSpPr>
            <p:cNvPr id="21" name="Shape 30"/>
            <p:cNvSpPr/>
            <p:nvPr/>
          </p:nvSpPr>
          <p:spPr>
            <a:xfrm>
              <a:off x="8851392" y="1661835"/>
              <a:ext cx="1051560" cy="1051560"/>
            </a:xfrm>
            <a:prstGeom prst="ellipse">
              <a:avLst/>
            </a:prstGeom>
            <a:solidFill>
              <a:srgbClr val="1B4F8A"/>
            </a:solidFill>
            <a:ln w="12700">
              <a:solidFill>
                <a:srgbClr val="1B4F8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2" name="Text 31"/>
            <p:cNvSpPr/>
            <p:nvPr/>
          </p:nvSpPr>
          <p:spPr>
            <a:xfrm>
              <a:off x="8851392" y="1661835"/>
              <a:ext cx="105156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05</a:t>
              </a:r>
              <a:endParaRPr lang="en-US" sz="2200" dirty="0"/>
            </a:p>
          </p:txBody>
        </p:sp>
        <p:sp>
          <p:nvSpPr>
            <p:cNvPr id="23" name="Text 7"/>
            <p:cNvSpPr/>
            <p:nvPr/>
          </p:nvSpPr>
          <p:spPr>
            <a:xfrm>
              <a:off x="1890903" y="3017273"/>
              <a:ext cx="1417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문의 &amp; 상담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24" name="Text 14"/>
            <p:cNvSpPr/>
            <p:nvPr/>
          </p:nvSpPr>
          <p:spPr>
            <a:xfrm>
              <a:off x="3594925" y="3035253"/>
              <a:ext cx="1417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현장 조사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21"/>
            <p:cNvSpPr/>
            <p:nvPr/>
          </p:nvSpPr>
          <p:spPr>
            <a:xfrm>
              <a:off x="5293423" y="3017273"/>
              <a:ext cx="1417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계약 체결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26" name="Text 28"/>
            <p:cNvSpPr/>
            <p:nvPr/>
          </p:nvSpPr>
          <p:spPr>
            <a:xfrm>
              <a:off x="6976872" y="3028863"/>
              <a:ext cx="1417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설치 공사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27" name="Text 34"/>
            <p:cNvSpPr/>
            <p:nvPr/>
          </p:nvSpPr>
          <p:spPr>
            <a:xfrm>
              <a:off x="8668512" y="3033435"/>
              <a:ext cx="1417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운영 시작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 8"/>
            <p:cNvSpPr/>
            <p:nvPr/>
          </p:nvSpPr>
          <p:spPr>
            <a:xfrm>
              <a:off x="1874520" y="3239175"/>
              <a:ext cx="1461135" cy="1737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 err="1" smtClean="0">
                  <a:solidFill>
                    <a:schemeClr val="bg1"/>
                  </a:solidFill>
                </a:rPr>
                <a:t>관리소장님께</a:t>
              </a:r>
              <a:r>
                <a:rPr lang="ko-KR" altLang="en-US" sz="1100" b="1" dirty="0" smtClean="0">
                  <a:solidFill>
                    <a:schemeClr val="bg1"/>
                  </a:solidFill>
                </a:rPr>
                <a:t>서</a:t>
              </a:r>
              <a:r>
                <a:rPr lang="en-US" sz="1100" b="1" dirty="0" smtClean="0">
                  <a:solidFill>
                    <a:schemeClr val="bg1"/>
                  </a:solidFill>
                </a:rPr>
                <a:t> </a:t>
              </a:r>
              <a:r>
                <a:rPr lang="ko-KR" altLang="en-US" sz="1100" b="1" dirty="0" smtClean="0">
                  <a:solidFill>
                    <a:schemeClr val="bg1"/>
                  </a:solidFill>
                </a:rPr>
                <a:t>연락</a:t>
              </a:r>
              <a:endParaRPr lang="en-US" sz="1100" b="1" dirty="0">
                <a:solidFill>
                  <a:schemeClr val="bg1"/>
                </a:solidFill>
              </a:endParaRPr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</a:rPr>
                <a:t>영업담당자가 방문 상담</a:t>
              </a:r>
            </a:p>
          </p:txBody>
        </p:sp>
        <p:sp>
          <p:nvSpPr>
            <p:cNvPr id="29" name="Text 15"/>
            <p:cNvSpPr/>
            <p:nvPr/>
          </p:nvSpPr>
          <p:spPr>
            <a:xfrm>
              <a:off x="3566160" y="3240993"/>
              <a:ext cx="1461135" cy="1737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</a:rPr>
                <a:t>전기 용량·주차 환경 등</a:t>
              </a:r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</a:rPr>
                <a:t>무상 현장 실사 진행</a:t>
              </a:r>
            </a:p>
          </p:txBody>
        </p:sp>
        <p:sp>
          <p:nvSpPr>
            <p:cNvPr id="30" name="Text 22"/>
            <p:cNvSpPr/>
            <p:nvPr/>
          </p:nvSpPr>
          <p:spPr>
            <a:xfrm>
              <a:off x="5334761" y="3240993"/>
              <a:ext cx="1461135" cy="1737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</a:rPr>
                <a:t>설치 위치·대수·요금제</a:t>
              </a:r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</a:rPr>
                <a:t>조건 협의 후 계약</a:t>
              </a:r>
            </a:p>
          </p:txBody>
        </p:sp>
        <p:sp>
          <p:nvSpPr>
            <p:cNvPr id="31" name="Text 29"/>
            <p:cNvSpPr/>
            <p:nvPr/>
          </p:nvSpPr>
          <p:spPr>
            <a:xfrm>
              <a:off x="7080505" y="3240993"/>
              <a:ext cx="1461135" cy="1737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</a:rPr>
                <a:t>전기 공사부터 충전기</a:t>
              </a:r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</a:rPr>
                <a:t>설치까지 일괄 진행</a:t>
              </a:r>
            </a:p>
          </p:txBody>
        </p:sp>
        <p:sp>
          <p:nvSpPr>
            <p:cNvPr id="32" name="Text 35"/>
            <p:cNvSpPr/>
            <p:nvPr/>
          </p:nvSpPr>
          <p:spPr>
            <a:xfrm>
              <a:off x="8646604" y="3246647"/>
              <a:ext cx="1461135" cy="1737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</a:rPr>
                <a:t>앱 연동·사용 교육</a:t>
              </a:r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</a:rPr>
                <a:t>후 즉시 서비스 개시</a:t>
              </a:r>
            </a:p>
          </p:txBody>
        </p:sp>
      </p:grpSp>
      <p:sp>
        <p:nvSpPr>
          <p:cNvPr id="38" name="Text 37"/>
          <p:cNvSpPr/>
          <p:nvPr/>
        </p:nvSpPr>
        <p:spPr>
          <a:xfrm>
            <a:off x="1909711" y="5982375"/>
            <a:ext cx="83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896"/>
                </a:solidFill>
              </a:rPr>
              <a:t>📌  설치 후에도 지속적인 A/S 및 원격 모니터링 서비스를 제공합니다. 관리 부담 없이 운영하실 수 있습니다.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3601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삼각형 11">
            <a:extLst>
              <a:ext uri="{FF2B5EF4-FFF2-40B4-BE49-F238E27FC236}">
                <a16:creationId xmlns="" xmlns:a16="http://schemas.microsoft.com/office/drawing/2014/main" id="{CE7D7D5B-553E-9545-B2E3-1F35A51B710C}"/>
              </a:ext>
            </a:extLst>
          </p:cNvPr>
          <p:cNvSpPr/>
          <p:nvPr/>
        </p:nvSpPr>
        <p:spPr>
          <a:xfrm rot="5400000">
            <a:off x="6779059" y="1858303"/>
            <a:ext cx="864523" cy="856514"/>
          </a:xfrm>
          <a:prstGeom prst="triangle">
            <a:avLst>
              <a:gd name="adj" fmla="val 4735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9" r="39013"/>
          <a:stretch/>
        </p:blipFill>
        <p:spPr>
          <a:xfrm>
            <a:off x="5893839" y="942762"/>
            <a:ext cx="5576671" cy="307646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3" name="Text 2"/>
          <p:cNvSpPr/>
          <p:nvPr/>
        </p:nvSpPr>
        <p:spPr>
          <a:xfrm>
            <a:off x="399012" y="1351197"/>
            <a:ext cx="5228704" cy="225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altLang="en-US" sz="3600" b="1" dirty="0" smtClean="0">
                <a:solidFill>
                  <a:srgbClr val="FFFFFF"/>
                </a:solidFill>
                <a:latin typeface="+mn-ea"/>
                <a:cs typeface="Arial Black" pitchFamily="34" charset="-120"/>
              </a:rPr>
              <a:t>충전 요금과</a:t>
            </a:r>
            <a:r>
              <a:rPr lang="en-US" altLang="ko-KR" sz="3600" b="1" dirty="0">
                <a:solidFill>
                  <a:srgbClr val="FFFFFF"/>
                </a:solidFill>
                <a:latin typeface="+mn-ea"/>
                <a:cs typeface="Arial Black" pitchFamily="34" charset="-120"/>
              </a:rPr>
              <a:t> </a:t>
            </a:r>
            <a:r>
              <a:rPr lang="ko-KR" altLang="en-US" sz="3600" b="1" dirty="0" smtClean="0">
                <a:solidFill>
                  <a:srgbClr val="FFFFFF"/>
                </a:solidFill>
                <a:latin typeface="+mn-ea"/>
              </a:rPr>
              <a:t>화재안전</a:t>
            </a:r>
            <a:endParaRPr lang="en-US" sz="3600" b="1" dirty="0">
              <a:latin typeface="+mn-ea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 err="1" smtClean="0">
                <a:solidFill>
                  <a:srgbClr val="FFFFFF"/>
                </a:solidFill>
                <a:latin typeface="+mn-ea"/>
                <a:cs typeface="Arial Black" pitchFamily="34" charset="-120"/>
              </a:rPr>
              <a:t>알뜰차저</a:t>
            </a:r>
            <a:r>
              <a:rPr lang="ko-KR" altLang="en-US" sz="3600" b="1" dirty="0" smtClean="0">
                <a:solidFill>
                  <a:srgbClr val="FFFFFF"/>
                </a:solidFill>
                <a:latin typeface="+mn-ea"/>
                <a:cs typeface="Arial Black" pitchFamily="34" charset="-120"/>
              </a:rPr>
              <a:t>는</a:t>
            </a:r>
            <a:endParaRPr lang="en-US" altLang="ko-KR" sz="3600" b="1" dirty="0" smtClean="0">
              <a:solidFill>
                <a:srgbClr val="FFFFFF"/>
              </a:solidFill>
              <a:latin typeface="+mn-ea"/>
              <a:cs typeface="Arial Black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ko-KR" altLang="en-US" sz="3600" b="1" dirty="0" smtClean="0">
                <a:solidFill>
                  <a:srgbClr val="FFFFFF"/>
                </a:solidFill>
                <a:latin typeface="+mn-ea"/>
                <a:cs typeface="Arial Black" pitchFamily="34" charset="-120"/>
              </a:rPr>
              <a:t>모두 제공합니다</a:t>
            </a:r>
            <a:r>
              <a:rPr lang="en-US" altLang="ko-KR" sz="3600" b="1" dirty="0" smtClean="0">
                <a:solidFill>
                  <a:srgbClr val="FFFFFF"/>
                </a:solidFill>
                <a:latin typeface="+mn-ea"/>
                <a:cs typeface="Arial Black" pitchFamily="34" charset="-120"/>
              </a:rPr>
              <a:t>.</a:t>
            </a:r>
            <a:endParaRPr lang="en-US" sz="3600" b="1" dirty="0">
              <a:latin typeface="+mn-ea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684740" y="5031249"/>
            <a:ext cx="8822520" cy="927665"/>
            <a:chOff x="1636310" y="5031249"/>
            <a:chExt cx="8822520" cy="927665"/>
          </a:xfrm>
        </p:grpSpPr>
        <p:grpSp>
          <p:nvGrpSpPr>
            <p:cNvPr id="30" name="그룹 29"/>
            <p:cNvGrpSpPr/>
            <p:nvPr/>
          </p:nvGrpSpPr>
          <p:grpSpPr>
            <a:xfrm>
              <a:off x="4975499" y="5031249"/>
              <a:ext cx="2243884" cy="927665"/>
              <a:chOff x="4974058" y="5120710"/>
              <a:chExt cx="2243884" cy="927665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="" xmlns:a16="http://schemas.microsoft.com/office/drawing/2014/main" id="{BCF21FA6-8E9C-4013-810A-1771160DAF5B}"/>
                  </a:ext>
                </a:extLst>
              </p:cNvPr>
              <p:cNvSpPr/>
              <p:nvPr/>
            </p:nvSpPr>
            <p:spPr>
              <a:xfrm>
                <a:off x="5129889" y="5120710"/>
                <a:ext cx="1966236" cy="927665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" name="TextBox 320"/>
              <p:cNvSpPr txBox="1"/>
              <p:nvPr/>
            </p:nvSpPr>
            <p:spPr>
              <a:xfrm>
                <a:off x="4974058" y="5701121"/>
                <a:ext cx="2243884" cy="2585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0"/>
                  </a:spcBef>
                  <a:defRPr/>
                </a:pPr>
                <a:r>
                  <a:rPr lang="ko-KR" altLang="en-US" sz="1200" b="1" dirty="0" smtClean="0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화재 이상징후 감지 시스템</a:t>
                </a:r>
                <a:endParaRPr lang="en-US" altLang="ko-KR" sz="1200" b="1" dirty="0">
                  <a:solidFill>
                    <a:schemeClr val="bg1"/>
                  </a:solidFill>
                  <a:ea typeface="맑은 고딕" panose="020B0503020000020004" pitchFamily="50" charset="-127"/>
                </a:endParaRPr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4975499" y="5276015"/>
                <a:ext cx="2241002" cy="31393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defRPr/>
                </a:pPr>
                <a:r>
                  <a:rPr lang="ko-KR" altLang="en-US" sz="1600" b="1" dirty="0" smtClean="0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안전 </a:t>
                </a:r>
                <a:r>
                  <a:rPr lang="en-US" altLang="ko-KR" sz="1600" b="1" dirty="0" smtClean="0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- </a:t>
                </a:r>
                <a:r>
                  <a:rPr lang="ko-KR" altLang="en-US" sz="1600" b="1" dirty="0" smtClean="0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화재예방</a:t>
                </a:r>
                <a:endParaRPr lang="en-US" altLang="ko-KR" sz="1600" b="1" dirty="0">
                  <a:solidFill>
                    <a:schemeClr val="bg1"/>
                  </a:solidFill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9" name="그룹 28"/>
            <p:cNvGrpSpPr/>
            <p:nvPr/>
          </p:nvGrpSpPr>
          <p:grpSpPr>
            <a:xfrm>
              <a:off x="1636310" y="5031249"/>
              <a:ext cx="2243884" cy="927665"/>
              <a:chOff x="1634869" y="5120710"/>
              <a:chExt cx="2243884" cy="927665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="" xmlns:a16="http://schemas.microsoft.com/office/drawing/2014/main" id="{BCF21FA6-8E9C-4013-810A-1771160DAF5B}"/>
                  </a:ext>
                </a:extLst>
              </p:cNvPr>
              <p:cNvSpPr/>
              <p:nvPr/>
            </p:nvSpPr>
            <p:spPr>
              <a:xfrm>
                <a:off x="1790700" y="5120710"/>
                <a:ext cx="1966236" cy="927665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4" name="TextBox 320"/>
              <p:cNvSpPr txBox="1"/>
              <p:nvPr/>
            </p:nvSpPr>
            <p:spPr>
              <a:xfrm>
                <a:off x="1634869" y="5691888"/>
                <a:ext cx="2243884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 smtClean="0">
                    <a:solidFill>
                      <a:schemeClr val="bg1"/>
                    </a:solidFill>
                  </a:rPr>
                  <a:t>265</a:t>
                </a:r>
                <a:r>
                  <a:rPr lang="ko-KR" altLang="en-US" sz="1200" dirty="0" smtClean="0">
                    <a:solidFill>
                      <a:schemeClr val="bg1"/>
                    </a:solidFill>
                  </a:rPr>
                  <a:t>원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/ kWh</a:t>
                </a:r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1636310" y="5276015"/>
                <a:ext cx="2241002" cy="31393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defRPr/>
                </a:pPr>
                <a:r>
                  <a:rPr lang="ko-KR" altLang="en-US" sz="1600" b="1" dirty="0" smtClean="0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합리적 요금</a:t>
                </a:r>
                <a:endParaRPr lang="en-US" altLang="ko-KR" sz="1600" b="1" dirty="0">
                  <a:solidFill>
                    <a:schemeClr val="bg1"/>
                  </a:solidFill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8" name="그룹 27"/>
            <p:cNvGrpSpPr/>
            <p:nvPr/>
          </p:nvGrpSpPr>
          <p:grpSpPr>
            <a:xfrm>
              <a:off x="8214946" y="5031249"/>
              <a:ext cx="2243884" cy="927665"/>
              <a:chOff x="8213505" y="5120710"/>
              <a:chExt cx="2243884" cy="927665"/>
            </a:xfrm>
          </p:grpSpPr>
          <p:sp>
            <p:nvSpPr>
              <p:cNvPr id="19" name="직사각형 18">
                <a:extLst>
                  <a:ext uri="{FF2B5EF4-FFF2-40B4-BE49-F238E27FC236}">
                    <a16:creationId xmlns="" xmlns:a16="http://schemas.microsoft.com/office/drawing/2014/main" id="{BCF21FA6-8E9C-4013-810A-1771160DAF5B}"/>
                  </a:ext>
                </a:extLst>
              </p:cNvPr>
              <p:cNvSpPr/>
              <p:nvPr/>
            </p:nvSpPr>
            <p:spPr>
              <a:xfrm>
                <a:off x="8369336" y="5120710"/>
                <a:ext cx="1966236" cy="927665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6" name="TextBox 320"/>
              <p:cNvSpPr txBox="1"/>
              <p:nvPr/>
            </p:nvSpPr>
            <p:spPr>
              <a:xfrm>
                <a:off x="8213505" y="5691888"/>
                <a:ext cx="2243884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 err="1" smtClean="0">
                    <a:solidFill>
                      <a:schemeClr val="bg1"/>
                    </a:solidFill>
                  </a:rPr>
                  <a:t>알뜰충전소</a:t>
                </a:r>
                <a:r>
                  <a:rPr lang="ko-KR" altLang="en-US" sz="1200" dirty="0" smtClean="0">
                    <a:solidFill>
                      <a:schemeClr val="bg1"/>
                    </a:solidFill>
                  </a:rPr>
                  <a:t>  구축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직사각형 26"/>
              <p:cNvSpPr/>
              <p:nvPr/>
            </p:nvSpPr>
            <p:spPr>
              <a:xfrm>
                <a:off x="8214946" y="5276015"/>
                <a:ext cx="2241002" cy="31393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defRPr/>
                </a:pPr>
                <a:r>
                  <a:rPr lang="ko-KR" altLang="en-US" sz="1600" b="1" dirty="0" err="1" smtClean="0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무상설치</a:t>
                </a:r>
                <a:endParaRPr lang="en-US" altLang="ko-KR" sz="1600" b="1" dirty="0">
                  <a:solidFill>
                    <a:schemeClr val="bg1"/>
                  </a:solidFill>
                  <a:ea typeface="맑은 고딕" panose="020B0503020000020004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92063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95999" y="3274135"/>
            <a:ext cx="9693673" cy="20621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solidFill>
                  <a:schemeClr val="bg1"/>
                </a:solidFill>
                <a:latin typeface="Arial" pitchFamily="34" charset="0"/>
                <a:ea typeface="맑은 고딕" pitchFamily="50" charset="-127"/>
              </a:rPr>
              <a:t>무료 현장 실사 안내</a:t>
            </a:r>
          </a:p>
          <a:p>
            <a:pPr algn="ctr"/>
            <a:endParaRPr 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  <a:latin typeface="Arial" pitchFamily="34" charset="0"/>
                <a:ea typeface="맑은 고딕" pitchFamily="50" charset="-127"/>
              </a:rPr>
              <a:t>✔ 설치비 무료  ✔ 현장 방문 상담  ✔ 충전 수요 분석  ✔ 최적 설치 대수 제안</a:t>
            </a:r>
          </a:p>
          <a:p>
            <a:pPr algn="ctr"/>
            <a:endParaRPr 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  <a:latin typeface="Arial" pitchFamily="34" charset="0"/>
                <a:ea typeface="맑은 고딕" pitchFamily="50" charset="-127"/>
              </a:rPr>
              <a:t>연락처 : 010-0000-0000</a:t>
            </a:r>
          </a:p>
          <a:p>
            <a:pPr algn="ctr"/>
            <a:r>
              <a:rPr lang="ko-KR" altLang="en-US" sz="2000" dirty="0">
                <a:solidFill>
                  <a:schemeClr val="bg1"/>
                </a:solidFill>
                <a:latin typeface="Arial" pitchFamily="34" charset="0"/>
                <a:ea typeface="맑은 고딕" pitchFamily="50" charset="-127"/>
              </a:rPr>
              <a:t>홈페이지 : altteulcharger.co.kr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239" y="595067"/>
            <a:ext cx="2133192" cy="24912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826" y="6141879"/>
            <a:ext cx="2476500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100" b="1" dirty="0" smtClean="0">
                <a:solidFill>
                  <a:schemeClr val="bg1"/>
                </a:solidFill>
                <a:latin typeface="+mn-ea"/>
              </a:rPr>
              <a:t>담당자 </a:t>
            </a:r>
            <a:r>
              <a:rPr kumimoji="1" lang="en-US" altLang="ko-KR" sz="1100" b="1" dirty="0" smtClean="0">
                <a:solidFill>
                  <a:schemeClr val="bg1"/>
                </a:solidFill>
                <a:latin typeface="+mn-ea"/>
              </a:rPr>
              <a:t>: </a:t>
            </a:r>
            <a:r>
              <a:rPr kumimoji="1" lang="ko-KR" altLang="en-US" sz="1100" b="1" dirty="0" err="1" smtClean="0">
                <a:solidFill>
                  <a:schemeClr val="bg1"/>
                </a:solidFill>
                <a:latin typeface="+mn-ea"/>
              </a:rPr>
              <a:t>충전왕</a:t>
            </a:r>
            <a:r>
              <a:rPr kumimoji="1" lang="ko-KR" altLang="en-US" sz="1100" b="1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ko-KR" altLang="en-US" sz="1100" b="1" dirty="0" err="1" smtClean="0">
                <a:solidFill>
                  <a:schemeClr val="bg1"/>
                </a:solidFill>
                <a:latin typeface="+mn-ea"/>
              </a:rPr>
              <a:t>김알뜰</a:t>
            </a:r>
            <a:r>
              <a:rPr kumimoji="1" lang="ko-KR" altLang="en-US" sz="1100" b="1" dirty="0" smtClean="0">
                <a:solidFill>
                  <a:schemeClr val="bg1"/>
                </a:solidFill>
                <a:latin typeface="+mn-ea"/>
              </a:rPr>
              <a:t> </a:t>
            </a:r>
            <a:endParaRPr kumimoji="1" lang="en-US" altLang="ko-KR" sz="1100" b="1" dirty="0" smtClean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100" b="1" dirty="0" smtClean="0">
                <a:solidFill>
                  <a:schemeClr val="bg1"/>
                </a:solidFill>
                <a:latin typeface="+mn-ea"/>
              </a:rPr>
              <a:t>HP : 010.0000.0000</a:t>
            </a:r>
          </a:p>
        </p:txBody>
      </p:sp>
      <p:sp>
        <p:nvSpPr>
          <p:cNvPr id="8" name="Text 16"/>
          <p:cNvSpPr/>
          <p:nvPr/>
        </p:nvSpPr>
        <p:spPr>
          <a:xfrm>
            <a:off x="5899540" y="6441961"/>
            <a:ext cx="62924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지금 </a:t>
            </a:r>
            <a:r>
              <a:rPr lang="en-US" sz="1100" b="1" dirty="0" err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</a:t>
            </a:r>
            <a:r>
              <a:rPr lang="en-US" sz="1100" b="1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sz="1100" b="1" dirty="0" err="1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상담</a:t>
            </a:r>
            <a:r>
              <a:rPr lang="en-US" sz="1100" b="1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sz="1100" b="1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신청하세요  |  알뜰에너지솔루션(주)  |  ALTTEUL ENERGY SOLUTION</a:t>
            </a:r>
            <a:endParaRPr 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589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사용자 지정 20">
      <a:dk1>
        <a:srgbClr val="000000"/>
      </a:dk1>
      <a:lt1>
        <a:srgbClr val="FFFFFF"/>
      </a:lt1>
      <a:dk2>
        <a:srgbClr val="212831"/>
      </a:dk2>
      <a:lt2>
        <a:srgbClr val="FCF7F7"/>
      </a:lt2>
      <a:accent1>
        <a:srgbClr val="FF956A"/>
      </a:accent1>
      <a:accent2>
        <a:srgbClr val="FB6B80"/>
      </a:accent2>
      <a:accent3>
        <a:srgbClr val="D971C6"/>
      </a:accent3>
      <a:accent4>
        <a:srgbClr val="4AB5EC"/>
      </a:accent4>
      <a:accent5>
        <a:srgbClr val="3887E8"/>
      </a:accent5>
      <a:accent6>
        <a:srgbClr val="7A6FD4"/>
      </a:accent6>
      <a:hlink>
        <a:srgbClr val="AC9078"/>
      </a:hlink>
      <a:folHlink>
        <a:srgbClr val="745C48"/>
      </a:folHlink>
    </a:clrScheme>
    <a:fontScheme name="사용자 지정 28">
      <a:majorFont>
        <a:latin typeface="Bebas Neue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>
          <a:noFill/>
        </a:ln>
      </a:spPr>
      <a:bodyPr wrap="square" rtlCol="0">
        <a:spAutoFit/>
      </a:bodyPr>
      <a:lstStyle>
        <a:defPPr algn="ctr">
          <a:defRPr kumimoji="1" sz="4400" dirty="0" smtClean="0">
            <a:solidFill>
              <a:schemeClr val="bg1"/>
            </a:solidFill>
            <a:latin typeface="Bebas Neue" panose="020B0606020202050201" pitchFamily="34" charset="0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658_electric_vehicles</Template>
  <TotalTime>562</TotalTime>
  <Words>447</Words>
  <Application>Microsoft Office PowerPoint</Application>
  <PresentationFormat>사용자 지정</PresentationFormat>
  <Paragraphs>117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굴림</vt:lpstr>
      <vt:lpstr>Arial</vt:lpstr>
      <vt:lpstr>나눔고딕</vt:lpstr>
      <vt:lpstr>Calibri</vt:lpstr>
      <vt:lpstr>Arial Black</vt:lpstr>
      <vt:lpstr>맑은 고딕</vt:lpstr>
      <vt:lpstr>Bebas Neue</vt:lpstr>
      <vt:lpstr>Office 테마</vt:lpstr>
      <vt:lpstr>PowerPoint 프레젠테이션</vt:lpstr>
      <vt:lpstr>PowerPoint 프레젠테이션</vt:lpstr>
      <vt:lpstr>알뜰차저 × i-Sensor 제휴 Safety Status: ACTIVE ✓ Live i-Sensor Monitoring — 이상 없음 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>Slide Members</Manager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>Powerpoint Templates, Diagram, Chart, Google slides, Keynote</dc:subject>
  <dc:creator>kimdahye</dc:creator>
  <cp:keywords>SlideMembers, ppt, PPT Templates, Presentation, Diagram, Chart, Yesform, Google slides, Keynote, Free Slides</cp:keywords>
  <dc:description>The copyright of this document is at Slide Members. Unauthorized copying may result in legal sanctions.</dc:description>
  <cp:lastModifiedBy>pc</cp:lastModifiedBy>
  <cp:revision>33</cp:revision>
  <dcterms:created xsi:type="dcterms:W3CDTF">2020-06-03T05:36:21Z</dcterms:created>
  <dcterms:modified xsi:type="dcterms:W3CDTF">2026-06-16T08:47:08Z</dcterms:modified>
  <cp:category>www.slidemembers.com</cp:category>
</cp:coreProperties>
</file>